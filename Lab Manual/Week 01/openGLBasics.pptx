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1" r:id="rId16"/>
  </p:sldIdLst>
  <p:sldSz cx="9144000" cy="6858000" type="screen4x3"/>
  <p:notesSz cx="9144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1" d="100"/>
          <a:sy n="101" d="100"/>
        </p:scale>
        <p:origin x="1914" y="10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8.png"/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7.png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000" b="0" i="0">
                <a:solidFill>
                  <a:srgbClr val="565E6C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000" b="0" i="0">
                <a:solidFill>
                  <a:srgbClr val="565E6C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5/18/2026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000" b="0" i="0">
                <a:solidFill>
                  <a:srgbClr val="565E6C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5/18/2026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k object 17"/>
          <p:cNvSpPr/>
          <p:nvPr/>
        </p:nvSpPr>
        <p:spPr>
          <a:xfrm>
            <a:off x="0" y="0"/>
            <a:ext cx="9144000" cy="103377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k object 18"/>
          <p:cNvSpPr/>
          <p:nvPr/>
        </p:nvSpPr>
        <p:spPr>
          <a:xfrm>
            <a:off x="4381500" y="0"/>
            <a:ext cx="4762500" cy="59943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k object 19"/>
          <p:cNvSpPr/>
          <p:nvPr/>
        </p:nvSpPr>
        <p:spPr>
          <a:xfrm>
            <a:off x="3810" y="201929"/>
            <a:ext cx="9140190" cy="64897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k object 20"/>
          <p:cNvSpPr/>
          <p:nvPr/>
        </p:nvSpPr>
        <p:spPr>
          <a:xfrm>
            <a:off x="0" y="247650"/>
            <a:ext cx="9144000" cy="56515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k object 21"/>
          <p:cNvSpPr/>
          <p:nvPr/>
        </p:nvSpPr>
        <p:spPr>
          <a:xfrm>
            <a:off x="530859" y="1363980"/>
            <a:ext cx="8309609" cy="1902460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5/18/2026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11" Type="http://schemas.openxmlformats.org/officeDocument/2006/relationships/image" Target="../media/image5.png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4.png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k object 17"/>
          <p:cNvSpPr/>
          <p:nvPr/>
        </p:nvSpPr>
        <p:spPr>
          <a:xfrm>
            <a:off x="0" y="0"/>
            <a:ext cx="9144000" cy="1033779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k object 18"/>
          <p:cNvSpPr/>
          <p:nvPr/>
        </p:nvSpPr>
        <p:spPr>
          <a:xfrm>
            <a:off x="4381500" y="0"/>
            <a:ext cx="4762500" cy="599439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k object 19"/>
          <p:cNvSpPr/>
          <p:nvPr/>
        </p:nvSpPr>
        <p:spPr>
          <a:xfrm>
            <a:off x="3810" y="201929"/>
            <a:ext cx="9140190" cy="648970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k object 20"/>
          <p:cNvSpPr/>
          <p:nvPr/>
        </p:nvSpPr>
        <p:spPr>
          <a:xfrm>
            <a:off x="0" y="247650"/>
            <a:ext cx="9144000" cy="565150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44500" y="1073150"/>
            <a:ext cx="8255000" cy="7874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000" b="0" i="0">
                <a:solidFill>
                  <a:srgbClr val="565E6C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34669" y="1925320"/>
            <a:ext cx="8074660" cy="410082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4500" y="1073150"/>
            <a:ext cx="4968240" cy="787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95" dirty="0"/>
              <a:t>Table </a:t>
            </a:r>
            <a:r>
              <a:rPr spc="110" dirty="0"/>
              <a:t>of</a:t>
            </a:r>
            <a:r>
              <a:rPr spc="5" dirty="0"/>
              <a:t> </a:t>
            </a:r>
            <a:r>
              <a:rPr spc="275" dirty="0"/>
              <a:t>Contents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4669" y="1885949"/>
            <a:ext cx="3359150" cy="2418080"/>
          </a:xfrm>
          <a:prstGeom prst="rect">
            <a:avLst/>
          </a:prstGeom>
        </p:spPr>
        <p:txBody>
          <a:bodyPr vert="horz" wrap="square" lIns="0" tIns="95250" rIns="0" bIns="0" rtlCol="0">
            <a:spAutoFit/>
          </a:bodyPr>
          <a:lstStyle/>
          <a:p>
            <a:pPr marL="285750" indent="-273050">
              <a:lnSpc>
                <a:spcPct val="100000"/>
              </a:lnSpc>
              <a:spcBef>
                <a:spcPts val="750"/>
              </a:spcBef>
              <a:buClr>
                <a:srgbClr val="B22B15"/>
              </a:buClr>
              <a:buSzPct val="94230"/>
              <a:buFont typeface="Arial"/>
              <a:buChar char=""/>
              <a:tabLst>
                <a:tab pos="285750" algn="l"/>
              </a:tabLst>
            </a:pPr>
            <a:r>
              <a:rPr sz="2600" spc="100" dirty="0">
                <a:latin typeface="Times New Roman"/>
                <a:cs typeface="Times New Roman"/>
              </a:rPr>
              <a:t>Open GL</a:t>
            </a:r>
            <a:r>
              <a:rPr sz="2600" spc="-340" dirty="0">
                <a:latin typeface="Times New Roman"/>
                <a:cs typeface="Times New Roman"/>
              </a:rPr>
              <a:t> </a:t>
            </a:r>
            <a:r>
              <a:rPr sz="2600" spc="-70" dirty="0">
                <a:latin typeface="Times New Roman"/>
                <a:cs typeface="Times New Roman"/>
              </a:rPr>
              <a:t>Overview</a:t>
            </a:r>
            <a:endParaRPr sz="2600">
              <a:latin typeface="Times New Roman"/>
              <a:cs typeface="Times New Roman"/>
            </a:endParaRPr>
          </a:p>
          <a:p>
            <a:pPr marL="285750" indent="-273050">
              <a:lnSpc>
                <a:spcPct val="100000"/>
              </a:lnSpc>
              <a:spcBef>
                <a:spcPts val="650"/>
              </a:spcBef>
              <a:buClr>
                <a:srgbClr val="B22B15"/>
              </a:buClr>
              <a:buSzPct val="94230"/>
              <a:buFont typeface="Arial"/>
              <a:buChar char=""/>
              <a:tabLst>
                <a:tab pos="285750" algn="l"/>
              </a:tabLst>
            </a:pPr>
            <a:r>
              <a:rPr sz="2600" spc="-25" dirty="0">
                <a:latin typeface="Times New Roman"/>
                <a:cs typeface="Times New Roman"/>
              </a:rPr>
              <a:t>Basic</a:t>
            </a:r>
            <a:r>
              <a:rPr sz="2600" spc="-45" dirty="0">
                <a:latin typeface="Times New Roman"/>
                <a:cs typeface="Times New Roman"/>
              </a:rPr>
              <a:t> </a:t>
            </a:r>
            <a:r>
              <a:rPr sz="2600" spc="20" dirty="0">
                <a:latin typeface="Times New Roman"/>
                <a:cs typeface="Times New Roman"/>
              </a:rPr>
              <a:t>Syntax</a:t>
            </a:r>
            <a:endParaRPr sz="2600">
              <a:latin typeface="Times New Roman"/>
              <a:cs typeface="Times New Roman"/>
            </a:endParaRPr>
          </a:p>
          <a:p>
            <a:pPr marL="285750" indent="-273050">
              <a:lnSpc>
                <a:spcPct val="100000"/>
              </a:lnSpc>
              <a:spcBef>
                <a:spcPts val="640"/>
              </a:spcBef>
              <a:buClr>
                <a:srgbClr val="B22B15"/>
              </a:buClr>
              <a:buSzPct val="94230"/>
              <a:buFont typeface="Arial"/>
              <a:buChar char=""/>
              <a:tabLst>
                <a:tab pos="285750" algn="l"/>
              </a:tabLst>
            </a:pPr>
            <a:r>
              <a:rPr sz="2600" spc="5" dirty="0">
                <a:latin typeface="Times New Roman"/>
                <a:cs typeface="Times New Roman"/>
              </a:rPr>
              <a:t>Sample </a:t>
            </a:r>
            <a:r>
              <a:rPr sz="2600" spc="15" dirty="0">
                <a:latin typeface="Times New Roman"/>
                <a:cs typeface="Times New Roman"/>
              </a:rPr>
              <a:t>Code</a:t>
            </a:r>
            <a:r>
              <a:rPr sz="2600" spc="-265" dirty="0">
                <a:latin typeface="Times New Roman"/>
                <a:cs typeface="Times New Roman"/>
              </a:rPr>
              <a:t> </a:t>
            </a:r>
            <a:r>
              <a:rPr sz="2600" spc="-40" dirty="0">
                <a:latin typeface="Times New Roman"/>
                <a:cs typeface="Times New Roman"/>
              </a:rPr>
              <a:t>Structure</a:t>
            </a:r>
            <a:endParaRPr sz="2600">
              <a:latin typeface="Times New Roman"/>
              <a:cs typeface="Times New Roman"/>
            </a:endParaRPr>
          </a:p>
          <a:p>
            <a:pPr marL="285750" indent="-273050">
              <a:lnSpc>
                <a:spcPct val="100000"/>
              </a:lnSpc>
              <a:spcBef>
                <a:spcPts val="650"/>
              </a:spcBef>
              <a:buClr>
                <a:srgbClr val="B22B15"/>
              </a:buClr>
              <a:buSzPct val="94230"/>
              <a:buFont typeface="Arial"/>
              <a:buChar char=""/>
              <a:tabLst>
                <a:tab pos="285750" algn="l"/>
              </a:tabLst>
            </a:pPr>
            <a:r>
              <a:rPr sz="2600" spc="20" dirty="0">
                <a:latin typeface="Times New Roman"/>
                <a:cs typeface="Times New Roman"/>
              </a:rPr>
              <a:t>Geometric</a:t>
            </a:r>
            <a:r>
              <a:rPr sz="2600" spc="-95" dirty="0">
                <a:latin typeface="Times New Roman"/>
                <a:cs typeface="Times New Roman"/>
              </a:rPr>
              <a:t> </a:t>
            </a:r>
            <a:r>
              <a:rPr sz="2600" spc="-20" dirty="0">
                <a:latin typeface="Times New Roman"/>
                <a:cs typeface="Times New Roman"/>
              </a:rPr>
              <a:t>Primitives</a:t>
            </a:r>
            <a:endParaRPr sz="2600">
              <a:latin typeface="Times New Roman"/>
              <a:cs typeface="Times New Roman"/>
            </a:endParaRPr>
          </a:p>
          <a:p>
            <a:pPr marL="285750" indent="-273050">
              <a:lnSpc>
                <a:spcPct val="100000"/>
              </a:lnSpc>
              <a:spcBef>
                <a:spcPts val="650"/>
              </a:spcBef>
              <a:buClr>
                <a:srgbClr val="B22B15"/>
              </a:buClr>
              <a:buSzPct val="94230"/>
              <a:buFont typeface="Arial"/>
              <a:buChar char=""/>
              <a:tabLst>
                <a:tab pos="285750" algn="l"/>
              </a:tabLst>
            </a:pPr>
            <a:r>
              <a:rPr sz="2600" spc="-10" dirty="0">
                <a:latin typeface="Times New Roman"/>
                <a:cs typeface="Times New Roman"/>
              </a:rPr>
              <a:t>Display</a:t>
            </a:r>
            <a:r>
              <a:rPr sz="2600" spc="-55" dirty="0"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Lists</a:t>
            </a:r>
            <a:endParaRPr sz="26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4500" y="1073150"/>
            <a:ext cx="5255895" cy="787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335" dirty="0"/>
              <a:t>What </a:t>
            </a:r>
            <a:r>
              <a:rPr spc="85" dirty="0"/>
              <a:t>is </a:t>
            </a:r>
            <a:r>
              <a:rPr spc="385" dirty="0"/>
              <a:t>Open</a:t>
            </a:r>
            <a:r>
              <a:rPr spc="-360" dirty="0"/>
              <a:t> </a:t>
            </a:r>
            <a:r>
              <a:rPr spc="114" dirty="0"/>
              <a:t>GL?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4669" y="1968500"/>
            <a:ext cx="8043545" cy="3703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5750" marR="14604" indent="-273050">
              <a:lnSpc>
                <a:spcPct val="99900"/>
              </a:lnSpc>
              <a:spcBef>
                <a:spcPts val="100"/>
              </a:spcBef>
              <a:buClr>
                <a:srgbClr val="B22B15"/>
              </a:buClr>
              <a:buSzPct val="94230"/>
              <a:buFont typeface="Arial"/>
              <a:buChar char=""/>
              <a:tabLst>
                <a:tab pos="285750" algn="l"/>
              </a:tabLst>
            </a:pPr>
            <a:r>
              <a:rPr sz="2600" spc="45" dirty="0">
                <a:latin typeface="Times New Roman"/>
                <a:cs typeface="Times New Roman"/>
              </a:rPr>
              <a:t>A </a:t>
            </a:r>
            <a:r>
              <a:rPr sz="2600" spc="-40" dirty="0">
                <a:latin typeface="Times New Roman"/>
                <a:cs typeface="Times New Roman"/>
              </a:rPr>
              <a:t>software </a:t>
            </a:r>
            <a:r>
              <a:rPr sz="2600" spc="35" dirty="0">
                <a:latin typeface="Times New Roman"/>
                <a:cs typeface="Times New Roman"/>
              </a:rPr>
              <a:t>API </a:t>
            </a:r>
            <a:r>
              <a:rPr sz="2600" spc="-15" dirty="0">
                <a:latin typeface="Times New Roman"/>
                <a:cs typeface="Times New Roman"/>
              </a:rPr>
              <a:t>consisting </a:t>
            </a:r>
            <a:r>
              <a:rPr sz="2600" spc="-10" dirty="0">
                <a:latin typeface="Times New Roman"/>
                <a:cs typeface="Times New Roman"/>
              </a:rPr>
              <a:t>of </a:t>
            </a:r>
            <a:r>
              <a:rPr sz="2600" spc="65" dirty="0">
                <a:latin typeface="Times New Roman"/>
                <a:cs typeface="Times New Roman"/>
              </a:rPr>
              <a:t>around </a:t>
            </a:r>
            <a:r>
              <a:rPr sz="2600" spc="-55" dirty="0">
                <a:latin typeface="Times New Roman"/>
                <a:cs typeface="Times New Roman"/>
              </a:rPr>
              <a:t>several </a:t>
            </a:r>
            <a:r>
              <a:rPr sz="2600" spc="95" dirty="0">
                <a:latin typeface="Times New Roman"/>
                <a:cs typeface="Times New Roman"/>
              </a:rPr>
              <a:t>hundred  </a:t>
            </a:r>
            <a:r>
              <a:rPr sz="2600" spc="15" dirty="0">
                <a:latin typeface="Times New Roman"/>
                <a:cs typeface="Times New Roman"/>
              </a:rPr>
              <a:t>functions</a:t>
            </a:r>
            <a:r>
              <a:rPr sz="2600" spc="-75" dirty="0">
                <a:latin typeface="Times New Roman"/>
                <a:cs typeface="Times New Roman"/>
              </a:rPr>
              <a:t> </a:t>
            </a:r>
            <a:r>
              <a:rPr sz="2600" spc="50" dirty="0">
                <a:latin typeface="Times New Roman"/>
                <a:cs typeface="Times New Roman"/>
              </a:rPr>
              <a:t>that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Times New Roman"/>
                <a:cs typeface="Times New Roman"/>
              </a:rPr>
              <a:t>a</a:t>
            </a:r>
            <a:r>
              <a:rPr lang="en-US" sz="2600" spc="-10" dirty="0">
                <a:latin typeface="Times New Roman"/>
                <a:cs typeface="Times New Roman"/>
              </a:rPr>
              <a:t>ll</a:t>
            </a:r>
            <a:r>
              <a:rPr sz="2600" spc="5" dirty="0">
                <a:latin typeface="Times New Roman"/>
                <a:cs typeface="Times New Roman"/>
              </a:rPr>
              <a:t>ow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you</a:t>
            </a:r>
            <a:r>
              <a:rPr sz="2600" spc="-75" dirty="0">
                <a:latin typeface="Times New Roman"/>
                <a:cs typeface="Times New Roman"/>
              </a:rPr>
              <a:t> </a:t>
            </a:r>
            <a:r>
              <a:rPr sz="2600" spc="65" dirty="0">
                <a:latin typeface="Times New Roman"/>
                <a:cs typeface="Times New Roman"/>
              </a:rPr>
              <a:t>to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20" dirty="0">
                <a:latin typeface="Times New Roman"/>
                <a:cs typeface="Times New Roman"/>
              </a:rPr>
              <a:t>talk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spc="65" dirty="0">
                <a:latin typeface="Times New Roman"/>
                <a:cs typeface="Times New Roman"/>
              </a:rPr>
              <a:t>to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your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spc="5" dirty="0">
                <a:latin typeface="Times New Roman"/>
                <a:cs typeface="Times New Roman"/>
              </a:rPr>
              <a:t>graphics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hardware.  </a:t>
            </a:r>
            <a:r>
              <a:rPr sz="2600" spc="55" dirty="0">
                <a:latin typeface="Times New Roman"/>
                <a:cs typeface="Times New Roman"/>
              </a:rPr>
              <a:t>It </a:t>
            </a:r>
            <a:r>
              <a:rPr sz="2600" spc="-15" dirty="0">
                <a:latin typeface="Times New Roman"/>
                <a:cs typeface="Times New Roman"/>
              </a:rPr>
              <a:t>is </a:t>
            </a:r>
            <a:r>
              <a:rPr sz="2600" spc="5" dirty="0">
                <a:latin typeface="Times New Roman"/>
                <a:cs typeface="Times New Roman"/>
              </a:rPr>
              <a:t>cro</a:t>
            </a:r>
            <a:r>
              <a:rPr lang="en-US" sz="2600" spc="5" dirty="0">
                <a:latin typeface="Times New Roman"/>
                <a:cs typeface="Times New Roman"/>
              </a:rPr>
              <a:t>s</a:t>
            </a:r>
            <a:r>
              <a:rPr sz="2600" b="1" spc="5" dirty="0">
                <a:latin typeface="Times New Roman"/>
                <a:cs typeface="Times New Roman"/>
              </a:rPr>
              <a:t>s </a:t>
            </a:r>
            <a:r>
              <a:rPr sz="2600" spc="-20" dirty="0">
                <a:latin typeface="Times New Roman"/>
                <a:cs typeface="Times New Roman"/>
              </a:rPr>
              <a:t>-platform </a:t>
            </a:r>
            <a:r>
              <a:rPr sz="2600" spc="95" dirty="0">
                <a:latin typeface="Times New Roman"/>
                <a:cs typeface="Times New Roman"/>
              </a:rPr>
              <a:t>and </a:t>
            </a:r>
            <a:r>
              <a:rPr sz="2600" spc="75" dirty="0">
                <a:latin typeface="Times New Roman"/>
                <a:cs typeface="Times New Roman"/>
              </a:rPr>
              <a:t>the </a:t>
            </a:r>
            <a:r>
              <a:rPr lang="en-US" sz="2600" spc="25" dirty="0">
                <a:latin typeface="Times New Roman"/>
                <a:cs typeface="Times New Roman"/>
              </a:rPr>
              <a:t>most used</a:t>
            </a:r>
            <a:r>
              <a:rPr sz="2600" spc="55" dirty="0">
                <a:latin typeface="Times New Roman"/>
                <a:cs typeface="Times New Roman"/>
              </a:rPr>
              <a:t> </a:t>
            </a:r>
            <a:r>
              <a:rPr sz="2600" spc="80" dirty="0">
                <a:latin typeface="Times New Roman"/>
                <a:cs typeface="Times New Roman"/>
              </a:rPr>
              <a:t>in  </a:t>
            </a:r>
            <a:r>
              <a:rPr sz="2600" spc="15" dirty="0">
                <a:latin typeface="Times New Roman"/>
                <a:cs typeface="Times New Roman"/>
              </a:rPr>
              <a:t>professional</a:t>
            </a:r>
            <a:r>
              <a:rPr sz="2600" spc="10" dirty="0">
                <a:latin typeface="Times New Roman"/>
                <a:cs typeface="Times New Roman"/>
              </a:rPr>
              <a:t> graphics</a:t>
            </a:r>
            <a:r>
              <a:rPr sz="2600" spc="30" dirty="0">
                <a:latin typeface="Times New Roman"/>
                <a:cs typeface="Times New Roman"/>
              </a:rPr>
              <a:t> </a:t>
            </a:r>
            <a:r>
              <a:rPr sz="2600" spc="-15" dirty="0">
                <a:latin typeface="Times New Roman"/>
                <a:cs typeface="Times New Roman"/>
              </a:rPr>
              <a:t>applications.</a:t>
            </a:r>
            <a:endParaRPr sz="2600" dirty="0">
              <a:latin typeface="Times New Roman"/>
              <a:cs typeface="Times New Roman"/>
            </a:endParaRPr>
          </a:p>
          <a:p>
            <a:pPr marL="285750" indent="-273050">
              <a:lnSpc>
                <a:spcPct val="100000"/>
              </a:lnSpc>
              <a:spcBef>
                <a:spcPts val="650"/>
              </a:spcBef>
              <a:buClr>
                <a:srgbClr val="B22B15"/>
              </a:buClr>
              <a:buSzPct val="94230"/>
              <a:buFont typeface="Arial"/>
              <a:buChar char=""/>
              <a:tabLst>
                <a:tab pos="285750" algn="l"/>
                <a:tab pos="1054100" algn="l"/>
                <a:tab pos="4834255" algn="l"/>
                <a:tab pos="5804535" algn="l"/>
              </a:tabLst>
            </a:pPr>
            <a:r>
              <a:rPr sz="2600" spc="-85" dirty="0">
                <a:latin typeface="Times New Roman"/>
                <a:cs typeface="Times New Roman"/>
              </a:rPr>
              <a:t>We’l</a:t>
            </a:r>
            <a:r>
              <a:rPr lang="en-US" sz="2600" spc="-85" dirty="0">
                <a:latin typeface="Times New Roman"/>
                <a:cs typeface="Times New Roman"/>
              </a:rPr>
              <a:t>l</a:t>
            </a:r>
            <a:r>
              <a:rPr lang="en-US" sz="2600" b="1" spc="-85" dirty="0">
                <a:latin typeface="Times New Roman"/>
                <a:cs typeface="Times New Roman"/>
              </a:rPr>
              <a:t> </a:t>
            </a:r>
            <a:r>
              <a:rPr sz="2600" spc="114" dirty="0">
                <a:latin typeface="Times New Roman"/>
                <a:cs typeface="Times New Roman"/>
              </a:rPr>
              <a:t>be</a:t>
            </a:r>
            <a:r>
              <a:rPr lang="en-US" sz="2600" spc="114" dirty="0">
                <a:latin typeface="Times New Roman"/>
                <a:cs typeface="Times New Roman"/>
              </a:rPr>
              <a:t> </a:t>
            </a:r>
            <a:r>
              <a:rPr sz="2600" spc="20" dirty="0">
                <a:latin typeface="Times New Roman"/>
                <a:cs typeface="Times New Roman"/>
              </a:rPr>
              <a:t>using </a:t>
            </a:r>
            <a:r>
              <a:rPr sz="2600" spc="95" dirty="0">
                <a:latin typeface="Times New Roman"/>
                <a:cs typeface="Times New Roman"/>
              </a:rPr>
              <a:t>OpenGL</a:t>
            </a:r>
            <a:r>
              <a:rPr sz="2600" spc="-375" dirty="0">
                <a:latin typeface="Times New Roman"/>
                <a:cs typeface="Times New Roman"/>
              </a:rPr>
              <a:t> </a:t>
            </a:r>
            <a:r>
              <a:rPr sz="2600" spc="30" dirty="0">
                <a:latin typeface="Times New Roman"/>
                <a:cs typeface="Times New Roman"/>
              </a:rPr>
              <a:t>this</a:t>
            </a:r>
            <a:r>
              <a:rPr sz="2600" spc="-75" dirty="0">
                <a:latin typeface="Times New Roman"/>
                <a:cs typeface="Times New Roman"/>
              </a:rPr>
              <a:t> </a:t>
            </a:r>
            <a:r>
              <a:rPr sz="2600" spc="-35" dirty="0">
                <a:latin typeface="Times New Roman"/>
                <a:cs typeface="Times New Roman"/>
              </a:rPr>
              <a:t>cla</a:t>
            </a:r>
            <a:r>
              <a:rPr lang="en-US" sz="2600" spc="-35" dirty="0">
                <a:latin typeface="Times New Roman"/>
                <a:cs typeface="Times New Roman"/>
              </a:rPr>
              <a:t>ss </a:t>
            </a:r>
            <a:r>
              <a:rPr sz="2600" spc="15" dirty="0">
                <a:latin typeface="Times New Roman"/>
                <a:cs typeface="Times New Roman"/>
              </a:rPr>
              <a:t>as</a:t>
            </a:r>
            <a:r>
              <a:rPr sz="2600" spc="-75" dirty="0">
                <a:latin typeface="Times New Roman"/>
                <a:cs typeface="Times New Roman"/>
              </a:rPr>
              <a:t> </a:t>
            </a:r>
            <a:r>
              <a:rPr sz="2600" spc="-35" dirty="0">
                <a:latin typeface="Times New Roman"/>
                <a:cs typeface="Times New Roman"/>
              </a:rPr>
              <a:t>wel</a:t>
            </a:r>
            <a:r>
              <a:rPr lang="en-US" sz="2600" spc="-35" dirty="0">
                <a:latin typeface="Times New Roman"/>
                <a:cs typeface="Times New Roman"/>
              </a:rPr>
              <a:t>l</a:t>
            </a:r>
            <a:r>
              <a:rPr sz="2600" b="1" spc="-35" dirty="0">
                <a:latin typeface="Times New Roman"/>
                <a:cs typeface="Times New Roman"/>
              </a:rPr>
              <a:t>	</a:t>
            </a:r>
            <a:r>
              <a:rPr sz="2600" spc="-40" dirty="0">
                <a:latin typeface="Times New Roman"/>
                <a:cs typeface="Times New Roman"/>
              </a:rPr>
              <a:t>as:</a:t>
            </a:r>
            <a:endParaRPr sz="2600" dirty="0">
              <a:latin typeface="Times New Roman"/>
              <a:cs typeface="Times New Roman"/>
            </a:endParaRPr>
          </a:p>
          <a:p>
            <a:pPr marL="652780" marR="5080" lvl="1" indent="-246379">
              <a:lnSpc>
                <a:spcPct val="100000"/>
              </a:lnSpc>
              <a:spcBef>
                <a:spcPts val="600"/>
              </a:spcBef>
              <a:buClr>
                <a:srgbClr val="FD8536"/>
              </a:buClr>
              <a:buSzPct val="85416"/>
              <a:buFont typeface="Arial"/>
              <a:buChar char=""/>
              <a:tabLst>
                <a:tab pos="652780" algn="l"/>
              </a:tabLst>
            </a:pPr>
            <a:r>
              <a:rPr sz="2400" spc="105" dirty="0">
                <a:latin typeface="Times New Roman"/>
                <a:cs typeface="Times New Roman"/>
              </a:rPr>
              <a:t>OpenGL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spc="-45" dirty="0">
                <a:latin typeface="Times New Roman"/>
                <a:cs typeface="Times New Roman"/>
              </a:rPr>
              <a:t>Utility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spc="15" dirty="0">
                <a:latin typeface="Times New Roman"/>
                <a:cs typeface="Times New Roman"/>
              </a:rPr>
              <a:t>Library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spc="-75" dirty="0">
                <a:latin typeface="Times New Roman"/>
                <a:cs typeface="Times New Roman"/>
              </a:rPr>
              <a:t>(GLU):</a:t>
            </a:r>
            <a:r>
              <a:rPr sz="2400" spc="-175" dirty="0">
                <a:latin typeface="Times New Roman"/>
                <a:cs typeface="Times New Roman"/>
              </a:rPr>
              <a:t> </a:t>
            </a:r>
            <a:r>
              <a:rPr sz="2400" spc="85" dirty="0">
                <a:latin typeface="Times New Roman"/>
                <a:cs typeface="Times New Roman"/>
              </a:rPr>
              <a:t>a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library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spc="25" dirty="0">
                <a:latin typeface="Times New Roman"/>
                <a:cs typeface="Times New Roman"/>
              </a:rPr>
              <a:t>functions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spc="-40" dirty="0">
                <a:latin typeface="Times New Roman"/>
                <a:cs typeface="Times New Roman"/>
              </a:rPr>
              <a:t>useful  </a:t>
            </a:r>
            <a:r>
              <a:rPr sz="2400" spc="-5" dirty="0">
                <a:latin typeface="Times New Roman"/>
                <a:cs typeface="Times New Roman"/>
              </a:rPr>
              <a:t>for drawing </a:t>
            </a:r>
            <a:r>
              <a:rPr sz="2400" spc="90" dirty="0">
                <a:latin typeface="Times New Roman"/>
                <a:cs typeface="Times New Roman"/>
              </a:rPr>
              <a:t>and </a:t>
            </a:r>
            <a:r>
              <a:rPr sz="2400" dirty="0">
                <a:latin typeface="Times New Roman"/>
                <a:cs typeface="Times New Roman"/>
              </a:rPr>
              <a:t>transforming</a:t>
            </a:r>
            <a:r>
              <a:rPr sz="2400" spc="-40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objects</a:t>
            </a:r>
            <a:endParaRPr sz="2400" dirty="0">
              <a:latin typeface="Times New Roman"/>
              <a:cs typeface="Times New Roman"/>
            </a:endParaRPr>
          </a:p>
          <a:p>
            <a:pPr marL="652780" marR="1015365" lvl="1" indent="-246379">
              <a:lnSpc>
                <a:spcPct val="100000"/>
              </a:lnSpc>
              <a:spcBef>
                <a:spcPts val="600"/>
              </a:spcBef>
              <a:buClr>
                <a:srgbClr val="FD8536"/>
              </a:buClr>
              <a:buSzPct val="85416"/>
              <a:buFont typeface="Arial"/>
              <a:buChar char=""/>
              <a:tabLst>
                <a:tab pos="652780" algn="l"/>
              </a:tabLst>
            </a:pPr>
            <a:r>
              <a:rPr sz="2400" spc="114" dirty="0">
                <a:latin typeface="Times New Roman"/>
                <a:cs typeface="Times New Roman"/>
              </a:rPr>
              <a:t>OpenGL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spc="-30" dirty="0">
                <a:latin typeface="Times New Roman"/>
                <a:cs typeface="Times New Roman"/>
              </a:rPr>
              <a:t>Utility</a:t>
            </a:r>
            <a:r>
              <a:rPr sz="2400" spc="-250" dirty="0">
                <a:latin typeface="Times New Roman"/>
                <a:cs typeface="Times New Roman"/>
              </a:rPr>
              <a:t> </a:t>
            </a:r>
            <a:r>
              <a:rPr sz="2400" spc="-30" dirty="0">
                <a:latin typeface="Times New Roman"/>
                <a:cs typeface="Times New Roman"/>
              </a:rPr>
              <a:t>Toolkit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spc="-30" dirty="0">
                <a:latin typeface="Times New Roman"/>
                <a:cs typeface="Times New Roman"/>
              </a:rPr>
              <a:t>(GLUT) </a:t>
            </a:r>
            <a:r>
              <a:rPr sz="2400" dirty="0">
                <a:latin typeface="Times New Roman"/>
                <a:cs typeface="Times New Roman"/>
              </a:rPr>
              <a:t>:</a:t>
            </a:r>
            <a:r>
              <a:rPr sz="2400" spc="-165" dirty="0">
                <a:latin typeface="Times New Roman"/>
                <a:cs typeface="Times New Roman"/>
              </a:rPr>
              <a:t> </a:t>
            </a:r>
            <a:r>
              <a:rPr sz="2400" spc="85" dirty="0">
                <a:latin typeface="Times New Roman"/>
                <a:cs typeface="Times New Roman"/>
              </a:rPr>
              <a:t>a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spc="5" dirty="0">
                <a:latin typeface="Times New Roman"/>
                <a:cs typeface="Times New Roman"/>
              </a:rPr>
              <a:t>library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spc="10" dirty="0">
                <a:latin typeface="Times New Roman"/>
                <a:cs typeface="Times New Roman"/>
              </a:rPr>
              <a:t>of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spc="-50" dirty="0">
                <a:latin typeface="Times New Roman"/>
                <a:cs typeface="Times New Roman"/>
              </a:rPr>
              <a:t>utility  </a:t>
            </a:r>
            <a:r>
              <a:rPr sz="2400" dirty="0">
                <a:latin typeface="Times New Roman"/>
                <a:cs typeface="Times New Roman"/>
              </a:rPr>
              <a:t>functions</a:t>
            </a:r>
            <a:r>
              <a:rPr sz="2400" spc="-90" dirty="0">
                <a:latin typeface="Times New Roman"/>
                <a:cs typeface="Times New Roman"/>
              </a:rPr>
              <a:t> </a:t>
            </a:r>
            <a:r>
              <a:rPr sz="2400" spc="40" dirty="0">
                <a:latin typeface="Times New Roman"/>
                <a:cs typeface="Times New Roman"/>
              </a:rPr>
              <a:t>that</a:t>
            </a:r>
            <a:r>
              <a:rPr sz="2400" spc="-80" dirty="0">
                <a:latin typeface="Times New Roman"/>
                <a:cs typeface="Times New Roman"/>
              </a:rPr>
              <a:t> </a:t>
            </a:r>
            <a:r>
              <a:rPr sz="2400" spc="15" dirty="0">
                <a:latin typeface="Times New Roman"/>
                <a:cs typeface="Times New Roman"/>
              </a:rPr>
              <a:t>perform</a:t>
            </a:r>
            <a:r>
              <a:rPr sz="2400" spc="-85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system</a:t>
            </a:r>
            <a:r>
              <a:rPr sz="2400" spc="-80" dirty="0">
                <a:latin typeface="Times New Roman"/>
                <a:cs typeface="Times New Roman"/>
              </a:rPr>
              <a:t> </a:t>
            </a:r>
            <a:r>
              <a:rPr sz="2400" spc="90" dirty="0">
                <a:latin typeface="Times New Roman"/>
                <a:cs typeface="Times New Roman"/>
              </a:rPr>
              <a:t>and</a:t>
            </a:r>
            <a:r>
              <a:rPr sz="2400" spc="-85" dirty="0">
                <a:latin typeface="Times New Roman"/>
                <a:cs typeface="Times New Roman"/>
              </a:rPr>
              <a:t> </a:t>
            </a:r>
            <a:r>
              <a:rPr sz="2400" spc="40" dirty="0">
                <a:latin typeface="Times New Roman"/>
                <a:cs typeface="Times New Roman"/>
              </a:rPr>
              <a:t>I/O</a:t>
            </a:r>
            <a:r>
              <a:rPr sz="2400" spc="-85" dirty="0">
                <a:latin typeface="Times New Roman"/>
                <a:cs typeface="Times New Roman"/>
              </a:rPr>
              <a:t> </a:t>
            </a:r>
            <a:r>
              <a:rPr sz="2400" spc="-15" dirty="0">
                <a:latin typeface="Times New Roman"/>
                <a:cs typeface="Times New Roman"/>
              </a:rPr>
              <a:t>functions.</a:t>
            </a:r>
            <a:endParaRPr sz="24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4500" y="1073150"/>
            <a:ext cx="5536565" cy="787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395" dirty="0"/>
              <a:t>Some </a:t>
            </a:r>
            <a:r>
              <a:rPr spc="130" dirty="0"/>
              <a:t>Basic</a:t>
            </a:r>
            <a:r>
              <a:rPr spc="405" dirty="0"/>
              <a:t> </a:t>
            </a:r>
            <a:r>
              <a:rPr spc="229" dirty="0"/>
              <a:t>Syntax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4669" y="1968500"/>
            <a:ext cx="8056245" cy="30238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5750" marR="728980" indent="-273050">
              <a:lnSpc>
                <a:spcPct val="100000"/>
              </a:lnSpc>
              <a:spcBef>
                <a:spcPts val="100"/>
              </a:spcBef>
              <a:buClr>
                <a:srgbClr val="B22B15"/>
              </a:buClr>
              <a:buSzPct val="94230"/>
              <a:buFont typeface="Arial"/>
              <a:buChar char=""/>
              <a:tabLst>
                <a:tab pos="285750" algn="l"/>
              </a:tabLst>
            </a:pPr>
            <a:r>
              <a:rPr sz="2600" spc="120" dirty="0">
                <a:latin typeface="Times New Roman"/>
                <a:cs typeface="Times New Roman"/>
              </a:rPr>
              <a:t>In</a:t>
            </a:r>
            <a:r>
              <a:rPr sz="2600" spc="-114" dirty="0">
                <a:latin typeface="Times New Roman"/>
                <a:cs typeface="Times New Roman"/>
              </a:rPr>
              <a:t> </a:t>
            </a:r>
            <a:r>
              <a:rPr sz="2600" spc="35" dirty="0">
                <a:latin typeface="Times New Roman"/>
                <a:cs typeface="Times New Roman"/>
              </a:rPr>
              <a:t>order</a:t>
            </a:r>
            <a:r>
              <a:rPr sz="2600" spc="-110" dirty="0">
                <a:latin typeface="Times New Roman"/>
                <a:cs typeface="Times New Roman"/>
              </a:rPr>
              <a:t> </a:t>
            </a:r>
            <a:r>
              <a:rPr sz="2600" spc="50" dirty="0">
                <a:latin typeface="Times New Roman"/>
                <a:cs typeface="Times New Roman"/>
              </a:rPr>
              <a:t>to</a:t>
            </a:r>
            <a:r>
              <a:rPr sz="2600" spc="-105" dirty="0">
                <a:latin typeface="Times New Roman"/>
                <a:cs typeface="Times New Roman"/>
              </a:rPr>
              <a:t> </a:t>
            </a:r>
            <a:r>
              <a:rPr sz="2600" spc="-35" dirty="0">
                <a:latin typeface="Times New Roman"/>
                <a:cs typeface="Times New Roman"/>
              </a:rPr>
              <a:t>write</a:t>
            </a:r>
            <a:r>
              <a:rPr sz="2600" spc="-114" dirty="0">
                <a:latin typeface="Times New Roman"/>
                <a:cs typeface="Times New Roman"/>
              </a:rPr>
              <a:t> </a:t>
            </a:r>
            <a:r>
              <a:rPr sz="2600" spc="65" dirty="0">
                <a:latin typeface="Times New Roman"/>
                <a:cs typeface="Times New Roman"/>
              </a:rPr>
              <a:t>our</a:t>
            </a:r>
            <a:r>
              <a:rPr sz="2600" spc="-110" dirty="0">
                <a:latin typeface="Times New Roman"/>
                <a:cs typeface="Times New Roman"/>
              </a:rPr>
              <a:t> </a:t>
            </a:r>
            <a:r>
              <a:rPr sz="2600" spc="135" dirty="0">
                <a:latin typeface="Times New Roman"/>
                <a:cs typeface="Times New Roman"/>
              </a:rPr>
              <a:t>frst</a:t>
            </a:r>
            <a:r>
              <a:rPr sz="2600" spc="-105" dirty="0">
                <a:latin typeface="Times New Roman"/>
                <a:cs typeface="Times New Roman"/>
              </a:rPr>
              <a:t> </a:t>
            </a:r>
            <a:r>
              <a:rPr sz="2600" spc="70" dirty="0">
                <a:latin typeface="Times New Roman"/>
                <a:cs typeface="Times New Roman"/>
              </a:rPr>
              <a:t>OpenGL</a:t>
            </a:r>
            <a:r>
              <a:rPr sz="2600" spc="-110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Times New Roman"/>
                <a:cs typeface="Times New Roman"/>
              </a:rPr>
              <a:t>program,</a:t>
            </a:r>
            <a:r>
              <a:rPr sz="2600" spc="-260" dirty="0">
                <a:latin typeface="Times New Roman"/>
                <a:cs typeface="Times New Roman"/>
              </a:rPr>
              <a:t> </a:t>
            </a:r>
            <a:r>
              <a:rPr sz="2600" spc="30" dirty="0">
                <a:latin typeface="Times New Roman"/>
                <a:cs typeface="Times New Roman"/>
              </a:rPr>
              <a:t>there</a:t>
            </a:r>
            <a:r>
              <a:rPr sz="2600" spc="-110" dirty="0">
                <a:latin typeface="Times New Roman"/>
                <a:cs typeface="Times New Roman"/>
              </a:rPr>
              <a:t> </a:t>
            </a:r>
            <a:r>
              <a:rPr sz="2600" spc="-120" dirty="0">
                <a:latin typeface="Times New Roman"/>
                <a:cs typeface="Times New Roman"/>
              </a:rPr>
              <a:t>are  </a:t>
            </a:r>
            <a:r>
              <a:rPr sz="2600" spc="30" dirty="0">
                <a:latin typeface="Times New Roman"/>
                <a:cs typeface="Times New Roman"/>
              </a:rPr>
              <a:t>some</a:t>
            </a:r>
            <a:r>
              <a:rPr sz="2600" spc="-100" dirty="0">
                <a:latin typeface="Times New Roman"/>
                <a:cs typeface="Times New Roman"/>
              </a:rPr>
              <a:t> </a:t>
            </a:r>
            <a:r>
              <a:rPr sz="2600" spc="10" dirty="0">
                <a:latin typeface="Times New Roman"/>
                <a:cs typeface="Times New Roman"/>
              </a:rPr>
              <a:t>things</a:t>
            </a:r>
            <a:r>
              <a:rPr sz="2600" spc="-90" dirty="0">
                <a:latin typeface="Times New Roman"/>
                <a:cs typeface="Times New Roman"/>
              </a:rPr>
              <a:t> </a:t>
            </a:r>
            <a:r>
              <a:rPr sz="2600" spc="35" dirty="0">
                <a:latin typeface="Times New Roman"/>
                <a:cs typeface="Times New Roman"/>
              </a:rPr>
              <a:t>that</a:t>
            </a:r>
            <a:r>
              <a:rPr sz="2600" spc="-9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we</a:t>
            </a:r>
            <a:r>
              <a:rPr sz="2600" spc="-100" dirty="0">
                <a:latin typeface="Times New Roman"/>
                <a:cs typeface="Times New Roman"/>
              </a:rPr>
              <a:t> </a:t>
            </a:r>
            <a:r>
              <a:rPr sz="2600" spc="35" dirty="0">
                <a:latin typeface="Times New Roman"/>
                <a:cs typeface="Times New Roman"/>
              </a:rPr>
              <a:t>should</a:t>
            </a:r>
            <a:r>
              <a:rPr sz="2600" spc="-95" dirty="0">
                <a:latin typeface="Times New Roman"/>
                <a:cs typeface="Times New Roman"/>
              </a:rPr>
              <a:t> </a:t>
            </a:r>
            <a:r>
              <a:rPr sz="2600" spc="-70" dirty="0">
                <a:latin typeface="Times New Roman"/>
                <a:cs typeface="Times New Roman"/>
              </a:rPr>
              <a:t>know.</a:t>
            </a:r>
            <a:endParaRPr sz="2600" dirty="0">
              <a:latin typeface="Times New Roman"/>
              <a:cs typeface="Times New Roman"/>
            </a:endParaRPr>
          </a:p>
          <a:p>
            <a:pPr marL="285750" indent="-273050">
              <a:lnSpc>
                <a:spcPct val="100000"/>
              </a:lnSpc>
              <a:spcBef>
                <a:spcPts val="640"/>
              </a:spcBef>
              <a:buClr>
                <a:srgbClr val="B22B15"/>
              </a:buClr>
              <a:buSzPct val="94230"/>
              <a:buFont typeface="Arial"/>
              <a:buChar char=""/>
              <a:tabLst>
                <a:tab pos="285750" algn="l"/>
                <a:tab pos="758825" algn="l"/>
              </a:tabLst>
            </a:pPr>
            <a:r>
              <a:rPr sz="2600" spc="-35" dirty="0">
                <a:latin typeface="Times New Roman"/>
                <a:cs typeface="Times New Roman"/>
              </a:rPr>
              <a:t>A</a:t>
            </a:r>
            <a:r>
              <a:rPr lang="en-US" sz="2600" spc="-35" dirty="0">
                <a:latin typeface="Times New Roman"/>
                <a:cs typeface="Times New Roman"/>
              </a:rPr>
              <a:t>ll</a:t>
            </a:r>
            <a:r>
              <a:rPr sz="2600" b="1" spc="-35" dirty="0">
                <a:latin typeface="Times New Roman"/>
                <a:cs typeface="Times New Roman"/>
              </a:rPr>
              <a:t>	</a:t>
            </a:r>
            <a:r>
              <a:rPr sz="2600" spc="10" dirty="0">
                <a:latin typeface="Times New Roman"/>
                <a:cs typeface="Times New Roman"/>
              </a:rPr>
              <a:t>functions </a:t>
            </a:r>
            <a:r>
              <a:rPr sz="2600" spc="90" dirty="0">
                <a:latin typeface="Times New Roman"/>
                <a:cs typeface="Times New Roman"/>
              </a:rPr>
              <a:t>in </a:t>
            </a:r>
            <a:r>
              <a:rPr sz="2600" spc="95" dirty="0">
                <a:latin typeface="Times New Roman"/>
                <a:cs typeface="Times New Roman"/>
              </a:rPr>
              <a:t>OpenGL </a:t>
            </a:r>
            <a:r>
              <a:rPr sz="2600" spc="55" dirty="0">
                <a:latin typeface="Times New Roman"/>
                <a:cs typeface="Times New Roman"/>
              </a:rPr>
              <a:t>use </a:t>
            </a:r>
            <a:r>
              <a:rPr sz="2600" spc="85" dirty="0">
                <a:latin typeface="Times New Roman"/>
                <a:cs typeface="Times New Roman"/>
              </a:rPr>
              <a:t>the</a:t>
            </a:r>
            <a:r>
              <a:rPr sz="2600" spc="-445" dirty="0">
                <a:latin typeface="Times New Roman"/>
                <a:cs typeface="Times New Roman"/>
              </a:rPr>
              <a:t> </a:t>
            </a:r>
            <a:r>
              <a:rPr sz="2600" spc="114" dirty="0">
                <a:latin typeface="Times New Roman"/>
                <a:cs typeface="Times New Roman"/>
              </a:rPr>
              <a:t>prefx </a:t>
            </a:r>
            <a:r>
              <a:rPr sz="2600" spc="-95" dirty="0">
                <a:latin typeface="Times New Roman"/>
                <a:cs typeface="Times New Roman"/>
              </a:rPr>
              <a:t>“gl”</a:t>
            </a:r>
            <a:endParaRPr sz="2600" dirty="0">
              <a:latin typeface="Times New Roman"/>
              <a:cs typeface="Times New Roman"/>
            </a:endParaRPr>
          </a:p>
          <a:p>
            <a:pPr marL="652780" marR="5080" lvl="1" indent="-246379">
              <a:lnSpc>
                <a:spcPct val="100000"/>
              </a:lnSpc>
              <a:spcBef>
                <a:spcPts val="600"/>
              </a:spcBef>
              <a:buClr>
                <a:srgbClr val="FD8536"/>
              </a:buClr>
              <a:buSzPct val="85416"/>
              <a:buFont typeface="Arial"/>
              <a:buChar char=""/>
              <a:tabLst>
                <a:tab pos="652780" algn="l"/>
              </a:tabLst>
            </a:pPr>
            <a:r>
              <a:rPr sz="2400" spc="30" dirty="0">
                <a:latin typeface="Times New Roman"/>
                <a:cs typeface="Times New Roman"/>
              </a:rPr>
              <a:t>Functions</a:t>
            </a:r>
            <a:r>
              <a:rPr sz="2400" spc="-85" dirty="0">
                <a:latin typeface="Times New Roman"/>
                <a:cs typeface="Times New Roman"/>
              </a:rPr>
              <a:t> </a:t>
            </a:r>
            <a:r>
              <a:rPr sz="2400" spc="20" dirty="0">
                <a:latin typeface="Times New Roman"/>
                <a:cs typeface="Times New Roman"/>
              </a:rPr>
              <a:t>from</a:t>
            </a:r>
            <a:r>
              <a:rPr sz="2400" spc="-75" dirty="0">
                <a:latin typeface="Times New Roman"/>
                <a:cs typeface="Times New Roman"/>
              </a:rPr>
              <a:t> </a:t>
            </a:r>
            <a:r>
              <a:rPr sz="2400" spc="45" dirty="0">
                <a:latin typeface="Times New Roman"/>
                <a:cs typeface="Times New Roman"/>
              </a:rPr>
              <a:t>GLU</a:t>
            </a:r>
            <a:r>
              <a:rPr sz="2400" spc="-80" dirty="0">
                <a:latin typeface="Times New Roman"/>
                <a:cs typeface="Times New Roman"/>
              </a:rPr>
              <a:t> </a:t>
            </a:r>
            <a:r>
              <a:rPr sz="2400" spc="90" dirty="0">
                <a:latin typeface="Times New Roman"/>
                <a:cs typeface="Times New Roman"/>
              </a:rPr>
              <a:t>and</a:t>
            </a:r>
            <a:r>
              <a:rPr sz="2400" spc="-80" dirty="0">
                <a:latin typeface="Times New Roman"/>
                <a:cs typeface="Times New Roman"/>
              </a:rPr>
              <a:t> </a:t>
            </a:r>
            <a:r>
              <a:rPr sz="2400" spc="40" dirty="0">
                <a:latin typeface="Times New Roman"/>
                <a:cs typeface="Times New Roman"/>
              </a:rPr>
              <a:t>GLUT</a:t>
            </a:r>
            <a:r>
              <a:rPr sz="2400" spc="-85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Times New Roman"/>
                <a:cs typeface="Times New Roman"/>
              </a:rPr>
              <a:t>have</a:t>
            </a:r>
            <a:r>
              <a:rPr sz="2400" spc="-75" dirty="0">
                <a:latin typeface="Times New Roman"/>
                <a:cs typeface="Times New Roman"/>
              </a:rPr>
              <a:t> </a:t>
            </a:r>
            <a:r>
              <a:rPr sz="2400" spc="75" dirty="0">
                <a:latin typeface="Times New Roman"/>
                <a:cs typeface="Times New Roman"/>
              </a:rPr>
              <a:t>the</a:t>
            </a:r>
            <a:r>
              <a:rPr sz="2400" spc="-75" dirty="0">
                <a:latin typeface="Times New Roman"/>
                <a:cs typeface="Times New Roman"/>
              </a:rPr>
              <a:t> </a:t>
            </a:r>
            <a:r>
              <a:rPr sz="2400" spc="60" dirty="0">
                <a:latin typeface="Times New Roman"/>
                <a:cs typeface="Times New Roman"/>
              </a:rPr>
              <a:t>prefxes</a:t>
            </a:r>
            <a:r>
              <a:rPr sz="2400" spc="-210" dirty="0">
                <a:latin typeface="Times New Roman"/>
                <a:cs typeface="Times New Roman"/>
              </a:rPr>
              <a:t> </a:t>
            </a:r>
            <a:r>
              <a:rPr sz="2400" spc="-60" dirty="0">
                <a:latin typeface="Times New Roman"/>
                <a:cs typeface="Times New Roman"/>
              </a:rPr>
              <a:t>“glu”</a:t>
            </a:r>
            <a:r>
              <a:rPr sz="2400" spc="-215" dirty="0">
                <a:latin typeface="Times New Roman"/>
                <a:cs typeface="Times New Roman"/>
              </a:rPr>
              <a:t> </a:t>
            </a:r>
            <a:r>
              <a:rPr sz="2400" spc="-15" dirty="0">
                <a:latin typeface="Times New Roman"/>
                <a:cs typeface="Times New Roman"/>
              </a:rPr>
              <a:t>and  </a:t>
            </a:r>
            <a:r>
              <a:rPr sz="2400" spc="5" dirty="0">
                <a:latin typeface="Times New Roman"/>
                <a:cs typeface="Times New Roman"/>
              </a:rPr>
              <a:t>“glut”</a:t>
            </a:r>
            <a:r>
              <a:rPr sz="2400" spc="-15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respectively.</a:t>
            </a:r>
            <a:endParaRPr sz="2400" dirty="0">
              <a:latin typeface="Times New Roman"/>
              <a:cs typeface="Times New Roman"/>
            </a:endParaRPr>
          </a:p>
          <a:p>
            <a:pPr marL="285750" indent="-273050">
              <a:lnSpc>
                <a:spcPct val="100000"/>
              </a:lnSpc>
              <a:spcBef>
                <a:spcPts val="650"/>
              </a:spcBef>
              <a:buClr>
                <a:srgbClr val="B22B15"/>
              </a:buClr>
              <a:buSzPct val="94230"/>
              <a:buFont typeface="Arial"/>
              <a:buChar char=""/>
              <a:tabLst>
                <a:tab pos="285750" algn="l"/>
                <a:tab pos="756285" algn="l"/>
              </a:tabLst>
            </a:pPr>
            <a:r>
              <a:rPr sz="2600" spc="-35" dirty="0">
                <a:latin typeface="Times New Roman"/>
                <a:cs typeface="Times New Roman"/>
              </a:rPr>
              <a:t>A</a:t>
            </a:r>
            <a:r>
              <a:rPr lang="en-US" sz="2600" spc="-35" dirty="0">
                <a:latin typeface="Times New Roman"/>
                <a:cs typeface="Times New Roman"/>
              </a:rPr>
              <a:t>ll </a:t>
            </a:r>
            <a:r>
              <a:rPr sz="2600" spc="10" dirty="0">
                <a:latin typeface="Times New Roman"/>
                <a:cs typeface="Times New Roman"/>
              </a:rPr>
              <a:t>constants</a:t>
            </a:r>
            <a:r>
              <a:rPr sz="2600" spc="-95" dirty="0">
                <a:latin typeface="Times New Roman"/>
                <a:cs typeface="Times New Roman"/>
              </a:rPr>
              <a:t> </a:t>
            </a:r>
            <a:r>
              <a:rPr sz="2600" spc="85" dirty="0">
                <a:latin typeface="Times New Roman"/>
                <a:cs typeface="Times New Roman"/>
              </a:rPr>
              <a:t>in</a:t>
            </a:r>
            <a:r>
              <a:rPr sz="2600" spc="-90" dirty="0">
                <a:latin typeface="Times New Roman"/>
                <a:cs typeface="Times New Roman"/>
              </a:rPr>
              <a:t> </a:t>
            </a:r>
            <a:r>
              <a:rPr sz="2600" spc="85" dirty="0">
                <a:latin typeface="Times New Roman"/>
                <a:cs typeface="Times New Roman"/>
              </a:rPr>
              <a:t>OpenGL</a:t>
            </a:r>
            <a:r>
              <a:rPr sz="2600" spc="-100" dirty="0">
                <a:latin typeface="Times New Roman"/>
                <a:cs typeface="Times New Roman"/>
              </a:rPr>
              <a:t> </a:t>
            </a:r>
            <a:r>
              <a:rPr sz="2600" spc="50" dirty="0">
                <a:latin typeface="Times New Roman"/>
                <a:cs typeface="Times New Roman"/>
              </a:rPr>
              <a:t>use</a:t>
            </a:r>
            <a:r>
              <a:rPr sz="2600" spc="-95" dirty="0">
                <a:latin typeface="Times New Roman"/>
                <a:cs typeface="Times New Roman"/>
              </a:rPr>
              <a:t> </a:t>
            </a:r>
            <a:r>
              <a:rPr sz="2600" spc="85" dirty="0">
                <a:latin typeface="Times New Roman"/>
                <a:cs typeface="Times New Roman"/>
              </a:rPr>
              <a:t>the</a:t>
            </a:r>
            <a:r>
              <a:rPr sz="2600" spc="-95" dirty="0">
                <a:latin typeface="Times New Roman"/>
                <a:cs typeface="Times New Roman"/>
              </a:rPr>
              <a:t> </a:t>
            </a:r>
            <a:r>
              <a:rPr sz="2600" spc="110" dirty="0">
                <a:latin typeface="Times New Roman"/>
                <a:cs typeface="Times New Roman"/>
              </a:rPr>
              <a:t>prefx</a:t>
            </a:r>
            <a:r>
              <a:rPr sz="2600" spc="-229" dirty="0">
                <a:latin typeface="Times New Roman"/>
                <a:cs typeface="Times New Roman"/>
              </a:rPr>
              <a:t> </a:t>
            </a:r>
            <a:r>
              <a:rPr sz="2600" spc="-55" dirty="0">
                <a:latin typeface="Times New Roman"/>
                <a:cs typeface="Times New Roman"/>
              </a:rPr>
              <a:t>“GL_”</a:t>
            </a:r>
            <a:endParaRPr sz="2600" dirty="0">
              <a:latin typeface="Times New Roman"/>
              <a:cs typeface="Times New Roman"/>
            </a:endParaRPr>
          </a:p>
          <a:p>
            <a:pPr marL="652780" lvl="1" indent="-246379">
              <a:lnSpc>
                <a:spcPct val="100000"/>
              </a:lnSpc>
              <a:spcBef>
                <a:spcPts val="600"/>
              </a:spcBef>
              <a:buClr>
                <a:srgbClr val="FD8536"/>
              </a:buClr>
              <a:buSzPct val="85416"/>
              <a:buFont typeface="Arial"/>
              <a:buChar char=""/>
              <a:tabLst>
                <a:tab pos="652780" algn="l"/>
              </a:tabLst>
            </a:pPr>
            <a:r>
              <a:rPr sz="2400" spc="-10" dirty="0">
                <a:latin typeface="Times New Roman"/>
                <a:cs typeface="Times New Roman"/>
              </a:rPr>
              <a:t>i.e.</a:t>
            </a:r>
            <a:r>
              <a:rPr sz="2400" spc="-14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glBegin(GL_POLYGON);</a:t>
            </a:r>
            <a:endParaRPr sz="24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4500" y="1073150"/>
            <a:ext cx="4189729" cy="787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315" dirty="0"/>
              <a:t>Code</a:t>
            </a:r>
            <a:r>
              <a:rPr spc="70" dirty="0"/>
              <a:t> </a:t>
            </a:r>
            <a:r>
              <a:rPr spc="254" dirty="0"/>
              <a:t>Example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4669" y="1918970"/>
            <a:ext cx="6738620" cy="41922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4137660">
              <a:lnSpc>
                <a:spcPct val="100000"/>
              </a:lnSpc>
              <a:spcBef>
                <a:spcPts val="100"/>
              </a:spcBef>
            </a:pPr>
            <a:r>
              <a:rPr sz="1600" b="1" spc="25" dirty="0">
                <a:latin typeface="Times New Roman"/>
                <a:cs typeface="Times New Roman"/>
              </a:rPr>
              <a:t>/ </a:t>
            </a:r>
            <a:r>
              <a:rPr sz="1600" spc="25" dirty="0">
                <a:latin typeface="Times New Roman"/>
                <a:cs typeface="Times New Roman"/>
              </a:rPr>
              <a:t>Snippet </a:t>
            </a:r>
            <a:r>
              <a:rPr sz="1600" spc="-15" dirty="0">
                <a:latin typeface="Times New Roman"/>
                <a:cs typeface="Times New Roman"/>
              </a:rPr>
              <a:t>of </a:t>
            </a:r>
            <a:r>
              <a:rPr sz="1600" spc="40" dirty="0">
                <a:latin typeface="Times New Roman"/>
                <a:cs typeface="Times New Roman"/>
              </a:rPr>
              <a:t>OpenGL </a:t>
            </a:r>
            <a:r>
              <a:rPr sz="1600" spc="-10" dirty="0">
                <a:latin typeface="Times New Roman"/>
                <a:cs typeface="Times New Roman"/>
              </a:rPr>
              <a:t>Code</a:t>
            </a:r>
            <a:r>
              <a:rPr sz="1600" b="1" spc="-10" dirty="0">
                <a:latin typeface="Times New Roman"/>
                <a:cs typeface="Times New Roman"/>
              </a:rPr>
              <a:t>. </a:t>
            </a:r>
            <a:r>
              <a:rPr sz="1600" spc="40" dirty="0">
                <a:latin typeface="Times New Roman"/>
                <a:cs typeface="Times New Roman"/>
              </a:rPr>
              <a:t>.  </a:t>
            </a:r>
            <a:r>
              <a:rPr sz="1600" spc="50" dirty="0">
                <a:latin typeface="Times New Roman"/>
                <a:cs typeface="Times New Roman"/>
              </a:rPr>
              <a:t>int </a:t>
            </a:r>
            <a:r>
              <a:rPr sz="1600" spc="15" dirty="0">
                <a:latin typeface="Times New Roman"/>
                <a:cs typeface="Times New Roman"/>
              </a:rPr>
              <a:t>main(int </a:t>
            </a:r>
            <a:r>
              <a:rPr sz="1600" spc="-10" dirty="0">
                <a:latin typeface="Times New Roman"/>
                <a:cs typeface="Times New Roman"/>
              </a:rPr>
              <a:t>argc, </a:t>
            </a:r>
            <a:r>
              <a:rPr sz="1600" spc="45" dirty="0">
                <a:latin typeface="Times New Roman"/>
                <a:cs typeface="Times New Roman"/>
              </a:rPr>
              <a:t>char </a:t>
            </a:r>
            <a:r>
              <a:rPr sz="1600" spc="-130" dirty="0">
                <a:latin typeface="Times New Roman"/>
                <a:cs typeface="Times New Roman"/>
              </a:rPr>
              <a:t>** </a:t>
            </a:r>
            <a:r>
              <a:rPr sz="1600" spc="-15" dirty="0">
                <a:latin typeface="Times New Roman"/>
                <a:cs typeface="Times New Roman"/>
              </a:rPr>
              <a:t>argv</a:t>
            </a:r>
            <a:r>
              <a:rPr sz="1600" spc="-200" dirty="0">
                <a:latin typeface="Times New Roman"/>
                <a:cs typeface="Times New Roman"/>
              </a:rPr>
              <a:t> </a:t>
            </a:r>
            <a:r>
              <a:rPr sz="1600" spc="-90" dirty="0">
                <a:latin typeface="Times New Roman"/>
                <a:cs typeface="Times New Roman"/>
              </a:rPr>
              <a:t>)</a:t>
            </a:r>
            <a:endParaRPr sz="16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z="1600" spc="-240" dirty="0">
                <a:latin typeface="Times New Roman"/>
                <a:cs typeface="Times New Roman"/>
              </a:rPr>
              <a:t>{</a:t>
            </a:r>
            <a:endParaRPr sz="1600" dirty="0">
              <a:latin typeface="Times New Roman"/>
              <a:cs typeface="Times New Roman"/>
            </a:endParaRPr>
          </a:p>
          <a:p>
            <a:pPr marL="285115">
              <a:lnSpc>
                <a:spcPct val="100000"/>
              </a:lnSpc>
              <a:spcBef>
                <a:spcPts val="10"/>
              </a:spcBef>
            </a:pPr>
            <a:r>
              <a:rPr sz="1600" spc="-10" dirty="0">
                <a:latin typeface="Times New Roman"/>
                <a:cs typeface="Times New Roman"/>
              </a:rPr>
              <a:t>glutInit(&amp;argc, </a:t>
            </a:r>
            <a:r>
              <a:rPr sz="1600" spc="-45" dirty="0">
                <a:latin typeface="Times New Roman"/>
                <a:cs typeface="Times New Roman"/>
              </a:rPr>
              <a:t>argv); </a:t>
            </a:r>
            <a:r>
              <a:rPr sz="1600" spc="10" dirty="0">
                <a:latin typeface="Times New Roman"/>
                <a:cs typeface="Times New Roman"/>
              </a:rPr>
              <a:t>//process</a:t>
            </a:r>
            <a:r>
              <a:rPr sz="1600" spc="-185" dirty="0">
                <a:latin typeface="Times New Roman"/>
                <a:cs typeface="Times New Roman"/>
              </a:rPr>
              <a:t> </a:t>
            </a:r>
            <a:r>
              <a:rPr sz="1600" spc="35" dirty="0">
                <a:latin typeface="Times New Roman"/>
                <a:cs typeface="Times New Roman"/>
              </a:rPr>
              <a:t>arguments</a:t>
            </a:r>
            <a:endParaRPr sz="1600" dirty="0">
              <a:latin typeface="Times New Roman"/>
              <a:cs typeface="Times New Roman"/>
            </a:endParaRPr>
          </a:p>
          <a:p>
            <a:pPr marL="285115">
              <a:lnSpc>
                <a:spcPct val="100000"/>
              </a:lnSpc>
              <a:spcBef>
                <a:spcPts val="10"/>
              </a:spcBef>
            </a:pPr>
            <a:r>
              <a:rPr sz="1600" spc="-10" dirty="0">
                <a:latin typeface="Times New Roman"/>
                <a:cs typeface="Times New Roman"/>
              </a:rPr>
              <a:t>glutInitDisplayMode( </a:t>
            </a:r>
            <a:r>
              <a:rPr sz="1600" spc="-5" dirty="0">
                <a:latin typeface="Times New Roman"/>
                <a:cs typeface="Times New Roman"/>
              </a:rPr>
              <a:t>GLUT_RGBA </a:t>
            </a:r>
            <a:r>
              <a:rPr sz="1600" spc="30" dirty="0">
                <a:latin typeface="Times New Roman"/>
                <a:cs typeface="Times New Roman"/>
              </a:rPr>
              <a:t>| </a:t>
            </a:r>
            <a:r>
              <a:rPr sz="1600" spc="25" dirty="0">
                <a:latin typeface="Times New Roman"/>
                <a:cs typeface="Times New Roman"/>
              </a:rPr>
              <a:t>GLUT_DOUBLE </a:t>
            </a:r>
            <a:r>
              <a:rPr sz="1600" spc="-85" dirty="0">
                <a:latin typeface="Times New Roman"/>
                <a:cs typeface="Times New Roman"/>
              </a:rPr>
              <a:t>); </a:t>
            </a:r>
            <a:r>
              <a:rPr sz="1600" dirty="0">
                <a:latin typeface="Times New Roman"/>
                <a:cs typeface="Times New Roman"/>
              </a:rPr>
              <a:t>//designates</a:t>
            </a:r>
            <a:r>
              <a:rPr sz="1600" spc="-245" dirty="0">
                <a:latin typeface="Times New Roman"/>
                <a:cs typeface="Times New Roman"/>
              </a:rPr>
              <a:t> </a:t>
            </a:r>
            <a:r>
              <a:rPr sz="1600" spc="10" dirty="0">
                <a:latin typeface="Times New Roman"/>
                <a:cs typeface="Times New Roman"/>
              </a:rPr>
              <a:t>buffers</a:t>
            </a:r>
            <a:endParaRPr sz="1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650" dirty="0">
              <a:latin typeface="Times New Roman"/>
              <a:cs typeface="Times New Roman"/>
            </a:endParaRPr>
          </a:p>
          <a:p>
            <a:pPr marL="285115" marR="2001520">
              <a:lnSpc>
                <a:spcPct val="101000"/>
              </a:lnSpc>
            </a:pPr>
            <a:r>
              <a:rPr sz="1600" spc="5" dirty="0">
                <a:latin typeface="Times New Roman"/>
                <a:cs typeface="Times New Roman"/>
              </a:rPr>
              <a:t>glutInitWindowPosition(</a:t>
            </a:r>
            <a:r>
              <a:rPr sz="1600" spc="-4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0,</a:t>
            </a:r>
            <a:r>
              <a:rPr sz="1600" spc="-120" dirty="0">
                <a:latin typeface="Times New Roman"/>
                <a:cs typeface="Times New Roman"/>
              </a:rPr>
              <a:t> </a:t>
            </a:r>
            <a:r>
              <a:rPr sz="1600" spc="30" dirty="0">
                <a:latin typeface="Times New Roman"/>
                <a:cs typeface="Times New Roman"/>
              </a:rPr>
              <a:t>0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spc="-85" dirty="0">
                <a:latin typeface="Times New Roman"/>
                <a:cs typeface="Times New Roman"/>
              </a:rPr>
              <a:t>);</a:t>
            </a:r>
            <a:r>
              <a:rPr sz="1600" spc="-12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//sets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spc="40" dirty="0">
                <a:latin typeface="Times New Roman"/>
                <a:cs typeface="Times New Roman"/>
              </a:rPr>
              <a:t>some</a:t>
            </a:r>
            <a:r>
              <a:rPr sz="1600" spc="-4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initial</a:t>
            </a:r>
            <a:r>
              <a:rPr sz="1600" spc="-35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stuff  </a:t>
            </a:r>
            <a:r>
              <a:rPr sz="1600" spc="5" dirty="0">
                <a:latin typeface="Times New Roman"/>
                <a:cs typeface="Times New Roman"/>
              </a:rPr>
              <a:t>glutInitWindowSize(100,</a:t>
            </a:r>
            <a:r>
              <a:rPr sz="1600" spc="-105" dirty="0">
                <a:latin typeface="Times New Roman"/>
                <a:cs typeface="Times New Roman"/>
              </a:rPr>
              <a:t> </a:t>
            </a:r>
            <a:r>
              <a:rPr sz="1600" spc="-55" dirty="0">
                <a:latin typeface="Times New Roman"/>
                <a:cs typeface="Times New Roman"/>
              </a:rPr>
              <a:t>100);</a:t>
            </a:r>
            <a:endParaRPr sz="1600" dirty="0">
              <a:latin typeface="Times New Roman"/>
              <a:cs typeface="Times New Roman"/>
            </a:endParaRPr>
          </a:p>
          <a:p>
            <a:pPr marL="285115">
              <a:lnSpc>
                <a:spcPct val="100000"/>
              </a:lnSpc>
              <a:spcBef>
                <a:spcPts val="10"/>
              </a:spcBef>
            </a:pPr>
            <a:r>
              <a:rPr sz="1600" spc="-10" dirty="0">
                <a:latin typeface="Times New Roman"/>
                <a:cs typeface="Times New Roman"/>
              </a:rPr>
              <a:t>static</a:t>
            </a:r>
            <a:r>
              <a:rPr sz="1600" spc="-40" dirty="0">
                <a:latin typeface="Times New Roman"/>
                <a:cs typeface="Times New Roman"/>
              </a:rPr>
              <a:t> </a:t>
            </a:r>
            <a:r>
              <a:rPr sz="1600" spc="40" dirty="0">
                <a:latin typeface="Times New Roman"/>
                <a:cs typeface="Times New Roman"/>
              </a:rPr>
              <a:t>int</a:t>
            </a:r>
            <a:r>
              <a:rPr sz="1600" spc="-45" dirty="0">
                <a:latin typeface="Times New Roman"/>
                <a:cs typeface="Times New Roman"/>
              </a:rPr>
              <a:t> </a:t>
            </a:r>
            <a:r>
              <a:rPr sz="1600" spc="10" dirty="0">
                <a:latin typeface="Times New Roman"/>
                <a:cs typeface="Times New Roman"/>
              </a:rPr>
              <a:t>window</a:t>
            </a:r>
            <a:r>
              <a:rPr sz="1600" spc="-45" dirty="0">
                <a:latin typeface="Times New Roman"/>
                <a:cs typeface="Times New Roman"/>
              </a:rPr>
              <a:t> </a:t>
            </a:r>
            <a:r>
              <a:rPr sz="1600" spc="45" dirty="0">
                <a:latin typeface="Times New Roman"/>
                <a:cs typeface="Times New Roman"/>
              </a:rPr>
              <a:t>=</a:t>
            </a:r>
            <a:r>
              <a:rPr sz="1600" spc="-40" dirty="0">
                <a:latin typeface="Times New Roman"/>
                <a:cs typeface="Times New Roman"/>
              </a:rPr>
              <a:t> </a:t>
            </a:r>
            <a:r>
              <a:rPr sz="1600" dirty="0">
                <a:latin typeface="Times New Roman"/>
                <a:cs typeface="Times New Roman"/>
              </a:rPr>
              <a:t>glutCreateWindow(</a:t>
            </a:r>
            <a:r>
              <a:rPr sz="1600" spc="-4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"OpenGL!");</a:t>
            </a:r>
            <a:r>
              <a:rPr sz="1600" spc="-12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//creates</a:t>
            </a:r>
            <a:r>
              <a:rPr sz="1600" spc="-45" dirty="0">
                <a:latin typeface="Times New Roman"/>
                <a:cs typeface="Times New Roman"/>
              </a:rPr>
              <a:t> </a:t>
            </a:r>
            <a:r>
              <a:rPr sz="1600" spc="10" dirty="0">
                <a:latin typeface="Times New Roman"/>
                <a:cs typeface="Times New Roman"/>
              </a:rPr>
              <a:t>window</a:t>
            </a:r>
            <a:endParaRPr sz="1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650" dirty="0">
              <a:latin typeface="Times New Roman"/>
              <a:cs typeface="Times New Roman"/>
            </a:endParaRPr>
          </a:p>
          <a:p>
            <a:pPr marL="285115" marR="1330325">
              <a:lnSpc>
                <a:spcPct val="100499"/>
              </a:lnSpc>
            </a:pPr>
            <a:r>
              <a:rPr sz="1600" spc="-15" dirty="0">
                <a:latin typeface="Times New Roman"/>
                <a:cs typeface="Times New Roman"/>
              </a:rPr>
              <a:t>glutIdleFunc(idle_callback); </a:t>
            </a:r>
            <a:r>
              <a:rPr sz="1600" spc="-10" dirty="0">
                <a:latin typeface="Times New Roman"/>
                <a:cs typeface="Times New Roman"/>
              </a:rPr>
              <a:t>// </a:t>
            </a:r>
            <a:r>
              <a:rPr sz="1600" spc="40" dirty="0">
                <a:latin typeface="Times New Roman"/>
                <a:cs typeface="Times New Roman"/>
              </a:rPr>
              <a:t>maps </a:t>
            </a:r>
            <a:r>
              <a:rPr sz="1600" spc="20" dirty="0">
                <a:latin typeface="Times New Roman"/>
                <a:cs typeface="Times New Roman"/>
              </a:rPr>
              <a:t>sample </a:t>
            </a:r>
            <a:r>
              <a:rPr sz="1600" spc="-10" dirty="0">
                <a:latin typeface="Times New Roman"/>
                <a:cs typeface="Times New Roman"/>
              </a:rPr>
              <a:t>callback</a:t>
            </a:r>
            <a:r>
              <a:rPr sz="1600" spc="-204" dirty="0">
                <a:latin typeface="Times New Roman"/>
                <a:cs typeface="Times New Roman"/>
              </a:rPr>
              <a:t> </a:t>
            </a:r>
            <a:r>
              <a:rPr sz="1600" spc="20" dirty="0">
                <a:latin typeface="Times New Roman"/>
                <a:cs typeface="Times New Roman"/>
              </a:rPr>
              <a:t>functions  </a:t>
            </a:r>
            <a:r>
              <a:rPr sz="1600" spc="-5" dirty="0">
                <a:latin typeface="Times New Roman"/>
                <a:cs typeface="Times New Roman"/>
              </a:rPr>
              <a:t>glutDisplayFunc(display_callback);</a:t>
            </a:r>
            <a:endParaRPr sz="1600" dirty="0">
              <a:latin typeface="Times New Roman"/>
              <a:cs typeface="Times New Roman"/>
            </a:endParaRPr>
          </a:p>
          <a:p>
            <a:pPr marL="285115" marR="2645410">
              <a:lnSpc>
                <a:spcPct val="200999"/>
              </a:lnSpc>
            </a:pPr>
            <a:r>
              <a:rPr sz="1600" spc="-25" dirty="0">
                <a:latin typeface="Times New Roman"/>
                <a:cs typeface="Times New Roman"/>
              </a:rPr>
              <a:t>glutMainLoop(); </a:t>
            </a:r>
            <a:r>
              <a:rPr sz="1600" spc="10" dirty="0">
                <a:latin typeface="Times New Roman"/>
                <a:cs typeface="Times New Roman"/>
              </a:rPr>
              <a:t>//enters </a:t>
            </a:r>
            <a:r>
              <a:rPr sz="1600" spc="40" dirty="0">
                <a:latin typeface="Times New Roman"/>
                <a:cs typeface="Times New Roman"/>
              </a:rPr>
              <a:t>main </a:t>
            </a:r>
            <a:r>
              <a:rPr sz="1600" spc="10" dirty="0">
                <a:latin typeface="Times New Roman"/>
                <a:cs typeface="Times New Roman"/>
              </a:rPr>
              <a:t>processing</a:t>
            </a:r>
            <a:r>
              <a:rPr sz="1600" spc="-290" dirty="0">
                <a:latin typeface="Times New Roman"/>
                <a:cs typeface="Times New Roman"/>
              </a:rPr>
              <a:t> </a:t>
            </a:r>
            <a:r>
              <a:rPr sz="1600" spc="25" dirty="0">
                <a:latin typeface="Times New Roman"/>
                <a:cs typeface="Times New Roman"/>
              </a:rPr>
              <a:t>loop  </a:t>
            </a:r>
            <a:r>
              <a:rPr sz="1600" spc="-5" dirty="0">
                <a:latin typeface="Times New Roman"/>
                <a:cs typeface="Times New Roman"/>
              </a:rPr>
              <a:t>exit(0);</a:t>
            </a:r>
            <a:endParaRPr sz="16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sz="1600" spc="-240" dirty="0">
                <a:latin typeface="Times New Roman"/>
                <a:cs typeface="Times New Roman"/>
              </a:rPr>
              <a:t>}</a:t>
            </a:r>
            <a:endParaRPr sz="16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4500" y="1073150"/>
            <a:ext cx="4189729" cy="787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315" dirty="0"/>
              <a:t>Code</a:t>
            </a:r>
            <a:r>
              <a:rPr spc="70" dirty="0"/>
              <a:t> </a:t>
            </a:r>
            <a:r>
              <a:rPr spc="254" dirty="0"/>
              <a:t>Example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4669" y="1918969"/>
            <a:ext cx="5903595" cy="35534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3714750">
              <a:lnSpc>
                <a:spcPct val="120300"/>
              </a:lnSpc>
              <a:spcBef>
                <a:spcPts val="100"/>
              </a:spcBef>
            </a:pPr>
            <a:r>
              <a:rPr sz="1600" dirty="0">
                <a:latin typeface="Times New Roman"/>
                <a:cs typeface="Times New Roman"/>
              </a:rPr>
              <a:t>//Sample </a:t>
            </a:r>
            <a:r>
              <a:rPr sz="1600" spc="-5" dirty="0">
                <a:latin typeface="Times New Roman"/>
                <a:cs typeface="Times New Roman"/>
              </a:rPr>
              <a:t>drawing</a:t>
            </a:r>
            <a:r>
              <a:rPr sz="1600" spc="-135" dirty="0">
                <a:latin typeface="Times New Roman"/>
                <a:cs typeface="Times New Roman"/>
              </a:rPr>
              <a:t> </a:t>
            </a:r>
            <a:r>
              <a:rPr sz="1600" spc="5" dirty="0">
                <a:latin typeface="Times New Roman"/>
                <a:cs typeface="Times New Roman"/>
              </a:rPr>
              <a:t>function  </a:t>
            </a:r>
            <a:r>
              <a:rPr sz="1600" spc="25" dirty="0">
                <a:latin typeface="Times New Roman"/>
                <a:cs typeface="Times New Roman"/>
              </a:rPr>
              <a:t>void</a:t>
            </a:r>
            <a:r>
              <a:rPr sz="1600" spc="-15" dirty="0">
                <a:latin typeface="Times New Roman"/>
                <a:cs typeface="Times New Roman"/>
              </a:rPr>
              <a:t> </a:t>
            </a:r>
            <a:r>
              <a:rPr sz="1600" spc="-10" dirty="0">
                <a:latin typeface="Times New Roman"/>
                <a:cs typeface="Times New Roman"/>
              </a:rPr>
              <a:t>display_callback(){</a:t>
            </a:r>
            <a:endParaRPr sz="1600" dirty="0">
              <a:latin typeface="Times New Roman"/>
              <a:cs typeface="Times New Roman"/>
            </a:endParaRPr>
          </a:p>
          <a:p>
            <a:pPr marL="285115" marR="5080">
              <a:lnSpc>
                <a:spcPct val="120800"/>
              </a:lnSpc>
            </a:pPr>
            <a:r>
              <a:rPr sz="1600" spc="-5" dirty="0">
                <a:latin typeface="Times New Roman"/>
                <a:cs typeface="Times New Roman"/>
              </a:rPr>
              <a:t>glClearColor(0.0, </a:t>
            </a:r>
            <a:r>
              <a:rPr sz="1600" spc="-10" dirty="0">
                <a:latin typeface="Times New Roman"/>
                <a:cs typeface="Times New Roman"/>
              </a:rPr>
              <a:t>0.0, </a:t>
            </a:r>
            <a:r>
              <a:rPr sz="1600" spc="-45" dirty="0">
                <a:latin typeface="Times New Roman"/>
                <a:cs typeface="Times New Roman"/>
              </a:rPr>
              <a:t>0.0); </a:t>
            </a:r>
            <a:r>
              <a:rPr sz="1600" spc="5" dirty="0">
                <a:latin typeface="Times New Roman"/>
                <a:cs typeface="Times New Roman"/>
              </a:rPr>
              <a:t>//clears </a:t>
            </a:r>
            <a:r>
              <a:rPr sz="1600" spc="75" dirty="0">
                <a:latin typeface="Times New Roman"/>
                <a:cs typeface="Times New Roman"/>
              </a:rPr>
              <a:t>our </a:t>
            </a:r>
            <a:r>
              <a:rPr sz="1600" spc="25" dirty="0">
                <a:latin typeface="Times New Roman"/>
                <a:cs typeface="Times New Roman"/>
              </a:rPr>
              <a:t>buffers  </a:t>
            </a:r>
            <a:r>
              <a:rPr sz="1600" spc="-5" dirty="0">
                <a:latin typeface="Times New Roman"/>
                <a:cs typeface="Times New Roman"/>
              </a:rPr>
              <a:t>glClear(GL_COLOR_BUFFER_BIT </a:t>
            </a:r>
            <a:r>
              <a:rPr sz="1600" spc="30" dirty="0">
                <a:latin typeface="Times New Roman"/>
                <a:cs typeface="Times New Roman"/>
              </a:rPr>
              <a:t>|</a:t>
            </a:r>
            <a:r>
              <a:rPr sz="1600" spc="-65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GL_DEPTH_BUFFER_BIT);</a:t>
            </a:r>
            <a:endParaRPr sz="1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2350" dirty="0">
              <a:latin typeface="Times New Roman"/>
              <a:cs typeface="Times New Roman"/>
            </a:endParaRPr>
          </a:p>
          <a:p>
            <a:pPr marL="285115">
              <a:lnSpc>
                <a:spcPct val="100000"/>
              </a:lnSpc>
            </a:pPr>
            <a:r>
              <a:rPr sz="1600" spc="-5" dirty="0">
                <a:latin typeface="Times New Roman"/>
                <a:cs typeface="Times New Roman"/>
              </a:rPr>
              <a:t>//perform any </a:t>
            </a:r>
            <a:r>
              <a:rPr sz="1600" spc="30" dirty="0">
                <a:latin typeface="Times New Roman"/>
                <a:cs typeface="Times New Roman"/>
              </a:rPr>
              <a:t>other </a:t>
            </a:r>
            <a:r>
              <a:rPr sz="1600" spc="-15" dirty="0">
                <a:latin typeface="Times New Roman"/>
                <a:cs typeface="Times New Roman"/>
              </a:rPr>
              <a:t>matrix </a:t>
            </a:r>
            <a:r>
              <a:rPr sz="1600" spc="-5" dirty="0">
                <a:latin typeface="Times New Roman"/>
                <a:cs typeface="Times New Roman"/>
              </a:rPr>
              <a:t>transformations</a:t>
            </a:r>
            <a:r>
              <a:rPr sz="1600" spc="-280" dirty="0">
                <a:latin typeface="Times New Roman"/>
                <a:cs typeface="Times New Roman"/>
              </a:rPr>
              <a:t> </a:t>
            </a:r>
            <a:r>
              <a:rPr sz="1600" spc="40" dirty="0">
                <a:latin typeface="Times New Roman"/>
                <a:cs typeface="Times New Roman"/>
              </a:rPr>
              <a:t>here</a:t>
            </a:r>
            <a:endParaRPr sz="1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2350" dirty="0">
              <a:latin typeface="Times New Roman"/>
              <a:cs typeface="Times New Roman"/>
            </a:endParaRPr>
          </a:p>
          <a:p>
            <a:pPr marL="285115">
              <a:lnSpc>
                <a:spcPct val="100000"/>
              </a:lnSpc>
            </a:pPr>
            <a:r>
              <a:rPr sz="1600" b="1" spc="25" dirty="0">
                <a:latin typeface="Times New Roman"/>
                <a:cs typeface="Times New Roman"/>
              </a:rPr>
              <a:t>/</a:t>
            </a:r>
            <a:r>
              <a:rPr sz="1600" b="1" spc="-310" dirty="0">
                <a:latin typeface="Times New Roman"/>
                <a:cs typeface="Times New Roman"/>
              </a:rPr>
              <a:t> </a:t>
            </a:r>
            <a:r>
              <a:rPr sz="1600" spc="-5" dirty="0">
                <a:latin typeface="Times New Roman"/>
                <a:cs typeface="Times New Roman"/>
              </a:rPr>
              <a:t>DRAW </a:t>
            </a:r>
            <a:r>
              <a:rPr sz="1600" spc="15" dirty="0">
                <a:latin typeface="Times New Roman"/>
                <a:cs typeface="Times New Roman"/>
              </a:rPr>
              <a:t>OBJECTS </a:t>
            </a:r>
            <a:r>
              <a:rPr sz="1600" spc="5" dirty="0">
                <a:latin typeface="Times New Roman"/>
                <a:cs typeface="Times New Roman"/>
              </a:rPr>
              <a:t>HERE!</a:t>
            </a:r>
            <a:endParaRPr sz="16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2000" dirty="0">
              <a:latin typeface="Times New Roman"/>
              <a:cs typeface="Times New Roman"/>
            </a:endParaRPr>
          </a:p>
          <a:p>
            <a:pPr marL="285115" marR="1273175">
              <a:lnSpc>
                <a:spcPct val="120800"/>
              </a:lnSpc>
            </a:pPr>
            <a:r>
              <a:rPr sz="1600" dirty="0">
                <a:latin typeface="Times New Roman"/>
                <a:cs typeface="Times New Roman"/>
              </a:rPr>
              <a:t>glFlush; </a:t>
            </a:r>
            <a:r>
              <a:rPr sz="1600" spc="5" dirty="0">
                <a:latin typeface="Times New Roman"/>
                <a:cs typeface="Times New Roman"/>
              </a:rPr>
              <a:t>//ensures </a:t>
            </a:r>
            <a:r>
              <a:rPr sz="1600" spc="55" dirty="0">
                <a:latin typeface="Times New Roman"/>
                <a:cs typeface="Times New Roman"/>
              </a:rPr>
              <a:t>our </a:t>
            </a:r>
            <a:r>
              <a:rPr sz="1600" dirty="0">
                <a:latin typeface="Times New Roman"/>
                <a:cs typeface="Times New Roman"/>
              </a:rPr>
              <a:t>objects </a:t>
            </a:r>
            <a:r>
              <a:rPr sz="1600" spc="25" dirty="0">
                <a:latin typeface="Times New Roman"/>
                <a:cs typeface="Times New Roman"/>
              </a:rPr>
              <a:t>are drawn </a:t>
            </a:r>
            <a:r>
              <a:rPr sz="1600" spc="10" dirty="0">
                <a:latin typeface="Times New Roman"/>
                <a:cs typeface="Times New Roman"/>
              </a:rPr>
              <a:t>right </a:t>
            </a:r>
            <a:r>
              <a:rPr sz="1600" spc="-60" dirty="0">
                <a:latin typeface="Times New Roman"/>
                <a:cs typeface="Times New Roman"/>
              </a:rPr>
              <a:t>away  </a:t>
            </a:r>
            <a:r>
              <a:rPr sz="1600" spc="-25" dirty="0">
                <a:latin typeface="Times New Roman"/>
                <a:cs typeface="Times New Roman"/>
              </a:rPr>
              <a:t>glutSwapBuffers(); </a:t>
            </a:r>
            <a:r>
              <a:rPr sz="1600" spc="-35" dirty="0">
                <a:latin typeface="Times New Roman"/>
                <a:cs typeface="Times New Roman"/>
              </a:rPr>
              <a:t>//if </a:t>
            </a:r>
            <a:r>
              <a:rPr sz="1600" spc="10" dirty="0">
                <a:latin typeface="Times New Roman"/>
                <a:cs typeface="Times New Roman"/>
              </a:rPr>
              <a:t>we </a:t>
            </a:r>
            <a:r>
              <a:rPr sz="1600" spc="35" dirty="0">
                <a:latin typeface="Times New Roman"/>
                <a:cs typeface="Times New Roman"/>
              </a:rPr>
              <a:t>are </a:t>
            </a:r>
            <a:r>
              <a:rPr sz="1600" spc="25" dirty="0">
                <a:latin typeface="Times New Roman"/>
                <a:cs typeface="Times New Roman"/>
              </a:rPr>
              <a:t>using </a:t>
            </a:r>
            <a:r>
              <a:rPr sz="1600" spc="40" dirty="0">
                <a:latin typeface="Times New Roman"/>
                <a:cs typeface="Times New Roman"/>
              </a:rPr>
              <a:t>double</a:t>
            </a:r>
            <a:r>
              <a:rPr sz="1600" spc="-285" dirty="0">
                <a:latin typeface="Times New Roman"/>
                <a:cs typeface="Times New Roman"/>
              </a:rPr>
              <a:t> </a:t>
            </a:r>
            <a:r>
              <a:rPr sz="1600" spc="10" dirty="0">
                <a:latin typeface="Times New Roman"/>
                <a:cs typeface="Times New Roman"/>
              </a:rPr>
              <a:t>buffering</a:t>
            </a:r>
            <a:endParaRPr sz="16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390"/>
              </a:spcBef>
            </a:pPr>
            <a:r>
              <a:rPr sz="1600" spc="-240" dirty="0">
                <a:latin typeface="Times New Roman"/>
                <a:cs typeface="Times New Roman"/>
              </a:rPr>
              <a:t>}</a:t>
            </a:r>
            <a:endParaRPr sz="16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4500" y="1073150"/>
            <a:ext cx="4965700" cy="7822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90" dirty="0"/>
              <a:t>A </a:t>
            </a:r>
            <a:r>
              <a:rPr dirty="0"/>
              <a:t>Bit </a:t>
            </a:r>
            <a:r>
              <a:rPr spc="325" dirty="0"/>
              <a:t>on </a:t>
            </a:r>
            <a:r>
              <a:rPr spc="35" dirty="0"/>
              <a:t>Buf</a:t>
            </a:r>
            <a:r>
              <a:rPr lang="en-US" spc="35" dirty="0"/>
              <a:t>f</a:t>
            </a:r>
            <a:r>
              <a:rPr spc="-525" dirty="0"/>
              <a:t> </a:t>
            </a:r>
            <a:r>
              <a:rPr spc="160" dirty="0"/>
              <a:t>ers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4669" y="1931670"/>
            <a:ext cx="7965440" cy="2230120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285750" marR="182245" indent="-273050">
              <a:lnSpc>
                <a:spcPts val="2590"/>
              </a:lnSpc>
              <a:spcBef>
                <a:spcPts val="425"/>
              </a:spcBef>
              <a:buClr>
                <a:srgbClr val="B22B15"/>
              </a:buClr>
              <a:buSzPct val="93750"/>
              <a:buFont typeface="Arial"/>
              <a:buChar char=""/>
              <a:tabLst>
                <a:tab pos="285750" algn="l"/>
              </a:tabLst>
            </a:pPr>
            <a:r>
              <a:rPr sz="2400" spc="-50" dirty="0">
                <a:latin typeface="Times New Roman"/>
                <a:cs typeface="Times New Roman"/>
              </a:rPr>
              <a:t>Pixels</a:t>
            </a:r>
            <a:r>
              <a:rPr sz="2400" spc="-95" dirty="0">
                <a:latin typeface="Times New Roman"/>
                <a:cs typeface="Times New Roman"/>
              </a:rPr>
              <a:t> </a:t>
            </a:r>
            <a:r>
              <a:rPr sz="2400" spc="25" dirty="0">
                <a:latin typeface="Times New Roman"/>
                <a:cs typeface="Times New Roman"/>
              </a:rPr>
              <a:t>are</a:t>
            </a:r>
            <a:r>
              <a:rPr sz="2400" spc="-85" dirty="0">
                <a:latin typeface="Times New Roman"/>
                <a:cs typeface="Times New Roman"/>
              </a:rPr>
              <a:t> </a:t>
            </a:r>
            <a:r>
              <a:rPr sz="2400" spc="25" dirty="0">
                <a:latin typeface="Times New Roman"/>
                <a:cs typeface="Times New Roman"/>
              </a:rPr>
              <a:t>drawn</a:t>
            </a:r>
            <a:r>
              <a:rPr sz="2400" spc="-85" dirty="0">
                <a:latin typeface="Times New Roman"/>
                <a:cs typeface="Times New Roman"/>
              </a:rPr>
              <a:t> </a:t>
            </a:r>
            <a:r>
              <a:rPr sz="2400" spc="50" dirty="0">
                <a:latin typeface="Times New Roman"/>
                <a:cs typeface="Times New Roman"/>
              </a:rPr>
              <a:t>to</a:t>
            </a:r>
            <a:r>
              <a:rPr sz="2400" spc="-90" dirty="0">
                <a:latin typeface="Times New Roman"/>
                <a:cs typeface="Times New Roman"/>
              </a:rPr>
              <a:t> </a:t>
            </a:r>
            <a:r>
              <a:rPr sz="2400" spc="70" dirty="0">
                <a:latin typeface="Times New Roman"/>
                <a:cs typeface="Times New Roman"/>
              </a:rPr>
              <a:t>the</a:t>
            </a:r>
            <a:r>
              <a:rPr sz="2400" spc="-90" dirty="0">
                <a:latin typeface="Times New Roman"/>
                <a:cs typeface="Times New Roman"/>
              </a:rPr>
              <a:t> </a:t>
            </a:r>
            <a:r>
              <a:rPr sz="2400" spc="20" dirty="0">
                <a:latin typeface="Times New Roman"/>
                <a:cs typeface="Times New Roman"/>
              </a:rPr>
              <a:t>screen</a:t>
            </a:r>
            <a:r>
              <a:rPr sz="2400" spc="-80" dirty="0">
                <a:latin typeface="Times New Roman"/>
                <a:cs typeface="Times New Roman"/>
              </a:rPr>
              <a:t> </a:t>
            </a:r>
            <a:r>
              <a:rPr sz="2400" spc="5" dirty="0">
                <a:latin typeface="Times New Roman"/>
                <a:cs typeface="Times New Roman"/>
              </a:rPr>
              <a:t>using</a:t>
            </a:r>
            <a:r>
              <a:rPr sz="2400" spc="-85" dirty="0">
                <a:latin typeface="Times New Roman"/>
                <a:cs typeface="Times New Roman"/>
              </a:rPr>
              <a:t> </a:t>
            </a:r>
            <a:r>
              <a:rPr sz="2400" spc="70" dirty="0">
                <a:latin typeface="Times New Roman"/>
                <a:cs typeface="Times New Roman"/>
              </a:rPr>
              <a:t>the</a:t>
            </a:r>
            <a:r>
              <a:rPr sz="2400" spc="-8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information</a:t>
            </a:r>
            <a:r>
              <a:rPr sz="2400" spc="-85" dirty="0">
                <a:latin typeface="Times New Roman"/>
                <a:cs typeface="Times New Roman"/>
              </a:rPr>
              <a:t> </a:t>
            </a:r>
            <a:r>
              <a:rPr sz="2400" spc="15" dirty="0">
                <a:latin typeface="Times New Roman"/>
                <a:cs typeface="Times New Roman"/>
              </a:rPr>
              <a:t>stored</a:t>
            </a:r>
            <a:r>
              <a:rPr sz="2400" spc="-90" dirty="0">
                <a:latin typeface="Times New Roman"/>
                <a:cs typeface="Times New Roman"/>
              </a:rPr>
              <a:t> in  </a:t>
            </a:r>
            <a:r>
              <a:rPr sz="2400" spc="75" dirty="0">
                <a:latin typeface="Times New Roman"/>
                <a:cs typeface="Times New Roman"/>
              </a:rPr>
              <a:t>the </a:t>
            </a:r>
            <a:r>
              <a:rPr sz="2400" spc="50" dirty="0">
                <a:latin typeface="Times New Roman"/>
                <a:cs typeface="Times New Roman"/>
              </a:rPr>
              <a:t>bu</a:t>
            </a:r>
            <a:r>
              <a:rPr lang="en-US" sz="2400" spc="50" dirty="0">
                <a:latin typeface="Times New Roman"/>
                <a:cs typeface="Times New Roman"/>
              </a:rPr>
              <a:t>ff</a:t>
            </a:r>
            <a:r>
              <a:rPr sz="2400" spc="-20" dirty="0">
                <a:latin typeface="Times New Roman"/>
                <a:cs typeface="Times New Roman"/>
              </a:rPr>
              <a:t>ers.</a:t>
            </a:r>
            <a:endParaRPr sz="2400" dirty="0">
              <a:latin typeface="Times New Roman"/>
              <a:cs typeface="Times New Roman"/>
            </a:endParaRPr>
          </a:p>
          <a:p>
            <a:pPr marL="285750" marR="5080" indent="-273050">
              <a:lnSpc>
                <a:spcPts val="2590"/>
              </a:lnSpc>
              <a:spcBef>
                <a:spcPts val="600"/>
              </a:spcBef>
              <a:buClr>
                <a:srgbClr val="B22B15"/>
              </a:buClr>
              <a:buSzPct val="93750"/>
              <a:buFont typeface="Arial"/>
              <a:buChar char=""/>
              <a:tabLst>
                <a:tab pos="285750" algn="l"/>
              </a:tabLst>
            </a:pPr>
            <a:r>
              <a:rPr sz="2400" spc="50" dirty="0">
                <a:latin typeface="Times New Roman"/>
                <a:cs typeface="Times New Roman"/>
              </a:rPr>
              <a:t>Each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25" dirty="0">
                <a:latin typeface="Times New Roman"/>
                <a:cs typeface="Times New Roman"/>
              </a:rPr>
              <a:t>time</a:t>
            </a:r>
            <a:r>
              <a:rPr sz="2400" spc="-65" dirty="0">
                <a:latin typeface="Times New Roman"/>
                <a:cs typeface="Times New Roman"/>
              </a:rPr>
              <a:t> </a:t>
            </a:r>
            <a:r>
              <a:rPr sz="2400" spc="5" dirty="0">
                <a:latin typeface="Times New Roman"/>
                <a:cs typeface="Times New Roman"/>
              </a:rPr>
              <a:t>we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15" dirty="0">
                <a:latin typeface="Times New Roman"/>
                <a:cs typeface="Times New Roman"/>
              </a:rPr>
              <a:t>update,</a:t>
            </a:r>
            <a:r>
              <a:rPr sz="2400" spc="-195" dirty="0">
                <a:latin typeface="Times New Roman"/>
                <a:cs typeface="Times New Roman"/>
              </a:rPr>
              <a:t> </a:t>
            </a:r>
            <a:r>
              <a:rPr sz="2400" spc="5" dirty="0">
                <a:latin typeface="Times New Roman"/>
                <a:cs typeface="Times New Roman"/>
              </a:rPr>
              <a:t>we</a:t>
            </a:r>
            <a:r>
              <a:rPr sz="2400" spc="-65" dirty="0">
                <a:latin typeface="Times New Roman"/>
                <a:cs typeface="Times New Roman"/>
              </a:rPr>
              <a:t> </a:t>
            </a:r>
            <a:r>
              <a:rPr lang="en-US" sz="2400" spc="-10" dirty="0">
                <a:latin typeface="Times New Roman"/>
                <a:cs typeface="Times New Roman"/>
              </a:rPr>
              <a:t>must</a:t>
            </a:r>
            <a:r>
              <a:rPr sz="2400" spc="-7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clear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90" dirty="0">
                <a:latin typeface="Times New Roman"/>
                <a:cs typeface="Times New Roman"/>
              </a:rPr>
              <a:t>and</a:t>
            </a:r>
            <a:r>
              <a:rPr sz="2400" spc="-7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rewrite</a:t>
            </a:r>
            <a:r>
              <a:rPr sz="2400" spc="-65" dirty="0">
                <a:latin typeface="Times New Roman"/>
                <a:cs typeface="Times New Roman"/>
              </a:rPr>
              <a:t> </a:t>
            </a:r>
            <a:r>
              <a:rPr sz="2400" spc="-35" dirty="0">
                <a:latin typeface="Times New Roman"/>
                <a:cs typeface="Times New Roman"/>
              </a:rPr>
              <a:t>information  </a:t>
            </a:r>
            <a:r>
              <a:rPr sz="2400" spc="55" dirty="0">
                <a:latin typeface="Times New Roman"/>
                <a:cs typeface="Times New Roman"/>
              </a:rPr>
              <a:t>to </a:t>
            </a:r>
            <a:r>
              <a:rPr sz="2400" spc="75" dirty="0">
                <a:latin typeface="Times New Roman"/>
                <a:cs typeface="Times New Roman"/>
              </a:rPr>
              <a:t>the </a:t>
            </a:r>
            <a:r>
              <a:rPr sz="2400" spc="45" dirty="0">
                <a:latin typeface="Times New Roman"/>
                <a:cs typeface="Times New Roman"/>
              </a:rPr>
              <a:t>buf</a:t>
            </a:r>
            <a:r>
              <a:rPr lang="en-US" sz="2400" spc="45" dirty="0">
                <a:latin typeface="Times New Roman"/>
                <a:cs typeface="Times New Roman"/>
              </a:rPr>
              <a:t>f</a:t>
            </a:r>
            <a:r>
              <a:rPr sz="2400" spc="-20" dirty="0">
                <a:latin typeface="Times New Roman"/>
                <a:cs typeface="Times New Roman"/>
              </a:rPr>
              <a:t>ers.</a:t>
            </a:r>
            <a:endParaRPr sz="2400" dirty="0">
              <a:latin typeface="Times New Roman"/>
              <a:cs typeface="Times New Roman"/>
            </a:endParaRPr>
          </a:p>
          <a:p>
            <a:pPr marL="285750" indent="-273050">
              <a:lnSpc>
                <a:spcPct val="100000"/>
              </a:lnSpc>
              <a:spcBef>
                <a:spcPts val="275"/>
              </a:spcBef>
              <a:buClr>
                <a:srgbClr val="B22B15"/>
              </a:buClr>
              <a:buSzPct val="93750"/>
              <a:buFont typeface="Arial"/>
              <a:buChar char=""/>
              <a:tabLst>
                <a:tab pos="285750" algn="l"/>
                <a:tab pos="3166110" algn="l"/>
              </a:tabLst>
            </a:pPr>
            <a:r>
              <a:rPr sz="2400" spc="95" dirty="0">
                <a:latin typeface="Times New Roman"/>
                <a:cs typeface="Times New Roman"/>
              </a:rPr>
              <a:t>OpenGL </a:t>
            </a:r>
            <a:r>
              <a:rPr sz="2400" spc="-5" dirty="0">
                <a:latin typeface="Times New Roman"/>
                <a:cs typeface="Times New Roman"/>
              </a:rPr>
              <a:t>al</a:t>
            </a:r>
            <a:r>
              <a:rPr lang="en-US" sz="2400" spc="-5" dirty="0">
                <a:latin typeface="Times New Roman"/>
                <a:cs typeface="Times New Roman"/>
              </a:rPr>
              <a:t>l</a:t>
            </a:r>
            <a:r>
              <a:rPr sz="2400" spc="-10" dirty="0">
                <a:latin typeface="Times New Roman"/>
                <a:cs typeface="Times New Roman"/>
              </a:rPr>
              <a:t>ows</a:t>
            </a:r>
            <a:r>
              <a:rPr sz="2400" spc="-355" dirty="0">
                <a:latin typeface="Times New Roman"/>
                <a:cs typeface="Times New Roman"/>
              </a:rPr>
              <a:t> </a:t>
            </a:r>
            <a:r>
              <a:rPr sz="2400" spc="20" dirty="0">
                <a:latin typeface="Times New Roman"/>
                <a:cs typeface="Times New Roman"/>
              </a:rPr>
              <a:t>access</a:t>
            </a:r>
            <a:r>
              <a:rPr sz="2400" b="1" spc="45" dirty="0">
                <a:latin typeface="Times New Roman"/>
                <a:cs typeface="Times New Roman"/>
              </a:rPr>
              <a:t>	</a:t>
            </a:r>
            <a:r>
              <a:rPr sz="2400" spc="65" dirty="0">
                <a:latin typeface="Times New Roman"/>
                <a:cs typeface="Times New Roman"/>
              </a:rPr>
              <a:t>to</a:t>
            </a:r>
            <a:r>
              <a:rPr sz="2400" spc="-65" dirty="0">
                <a:latin typeface="Times New Roman"/>
                <a:cs typeface="Times New Roman"/>
              </a:rPr>
              <a:t> </a:t>
            </a:r>
            <a:r>
              <a:rPr sz="2400" spc="-15" dirty="0">
                <a:latin typeface="Times New Roman"/>
                <a:cs typeface="Times New Roman"/>
              </a:rPr>
              <a:t>modify</a:t>
            </a:r>
            <a:r>
              <a:rPr sz="2400" spc="-65" dirty="0">
                <a:latin typeface="Times New Roman"/>
                <a:cs typeface="Times New Roman"/>
              </a:rPr>
              <a:t> </a:t>
            </a:r>
            <a:r>
              <a:rPr sz="2400" spc="-35" dirty="0">
                <a:latin typeface="Times New Roman"/>
                <a:cs typeface="Times New Roman"/>
              </a:rPr>
              <a:t>several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55" dirty="0">
                <a:latin typeface="Times New Roman"/>
                <a:cs typeface="Times New Roman"/>
              </a:rPr>
              <a:t>bu</a:t>
            </a:r>
            <a:r>
              <a:rPr lang="en-US" sz="2400" spc="55" dirty="0">
                <a:latin typeface="Times New Roman"/>
                <a:cs typeface="Times New Roman"/>
              </a:rPr>
              <a:t>ff</a:t>
            </a:r>
            <a:r>
              <a:rPr sz="2400" spc="45" dirty="0">
                <a:latin typeface="Times New Roman"/>
                <a:cs typeface="Times New Roman"/>
              </a:rPr>
              <a:t>ers</a:t>
            </a:r>
            <a:r>
              <a:rPr sz="2400" spc="-65" dirty="0">
                <a:latin typeface="Times New Roman"/>
                <a:cs typeface="Times New Roman"/>
              </a:rPr>
              <a:t> </a:t>
            </a:r>
            <a:r>
              <a:rPr sz="2400" spc="60" dirty="0">
                <a:latin typeface="Times New Roman"/>
                <a:cs typeface="Times New Roman"/>
              </a:rPr>
              <a:t>such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-35" dirty="0">
                <a:latin typeface="Times New Roman"/>
                <a:cs typeface="Times New Roman"/>
              </a:rPr>
              <a:t>as:</a:t>
            </a:r>
            <a:endParaRPr sz="2400" dirty="0">
              <a:latin typeface="Times New Roman"/>
              <a:cs typeface="Times New Roman"/>
            </a:endParaRPr>
          </a:p>
          <a:p>
            <a:pPr marL="405765">
              <a:lnSpc>
                <a:spcPct val="100000"/>
              </a:lnSpc>
              <a:spcBef>
                <a:spcPts val="280"/>
              </a:spcBef>
            </a:pPr>
            <a:r>
              <a:rPr sz="2775" spc="-705" baseline="9009" dirty="0">
                <a:solidFill>
                  <a:srgbClr val="FD8536"/>
                </a:solidFill>
                <a:latin typeface="Arial"/>
                <a:cs typeface="Arial"/>
              </a:rPr>
              <a:t> </a:t>
            </a:r>
            <a:r>
              <a:rPr sz="2200" spc="5" dirty="0">
                <a:latin typeface="Times New Roman"/>
                <a:cs typeface="Times New Roman"/>
              </a:rPr>
              <a:t>Color </a:t>
            </a:r>
            <a:r>
              <a:rPr sz="2200" spc="45" dirty="0">
                <a:latin typeface="Times New Roman"/>
                <a:cs typeface="Times New Roman"/>
              </a:rPr>
              <a:t>bu</a:t>
            </a:r>
            <a:r>
              <a:rPr lang="en-US" sz="2200" spc="45" dirty="0">
                <a:latin typeface="Times New Roman"/>
                <a:cs typeface="Times New Roman"/>
              </a:rPr>
              <a:t>ff</a:t>
            </a:r>
            <a:r>
              <a:rPr sz="2200" spc="30" dirty="0">
                <a:latin typeface="Times New Roman"/>
                <a:cs typeface="Times New Roman"/>
              </a:rPr>
              <a:t>ers</a:t>
            </a:r>
            <a:endParaRPr sz="2200" dirty="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202689" y="4196079"/>
            <a:ext cx="119380" cy="2286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300" spc="-320" dirty="0">
                <a:solidFill>
                  <a:srgbClr val="7497D8"/>
                </a:solidFill>
                <a:latin typeface="Arial"/>
                <a:cs typeface="Arial"/>
              </a:rPr>
              <a:t></a:t>
            </a:r>
            <a:endParaRPr sz="13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28369" y="4168140"/>
            <a:ext cx="7427595" cy="9461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33400">
              <a:lnSpc>
                <a:spcPts val="2160"/>
              </a:lnSpc>
              <a:spcBef>
                <a:spcPts val="100"/>
              </a:spcBef>
            </a:pPr>
            <a:r>
              <a:rPr sz="1900" spc="15" dirty="0">
                <a:latin typeface="Times New Roman"/>
                <a:cs typeface="Times New Roman"/>
              </a:rPr>
              <a:t>Contain </a:t>
            </a:r>
            <a:r>
              <a:rPr sz="1900" dirty="0">
                <a:latin typeface="Times New Roman"/>
                <a:cs typeface="Times New Roman"/>
              </a:rPr>
              <a:t>information </a:t>
            </a:r>
            <a:r>
              <a:rPr sz="1900" spc="30" dirty="0">
                <a:latin typeface="Times New Roman"/>
                <a:cs typeface="Times New Roman"/>
              </a:rPr>
              <a:t>about </a:t>
            </a:r>
            <a:r>
              <a:rPr sz="1900" spc="60" dirty="0">
                <a:latin typeface="Times New Roman"/>
                <a:cs typeface="Times New Roman"/>
              </a:rPr>
              <a:t>the</a:t>
            </a:r>
            <a:r>
              <a:rPr lang="en-US" sz="1900" spc="60" dirty="0">
                <a:latin typeface="Times New Roman"/>
                <a:cs typeface="Times New Roman"/>
              </a:rPr>
              <a:t> </a:t>
            </a:r>
            <a:r>
              <a:rPr sz="1900" spc="-345" dirty="0">
                <a:latin typeface="Times New Roman"/>
                <a:cs typeface="Times New Roman"/>
              </a:rPr>
              <a:t> </a:t>
            </a:r>
            <a:r>
              <a:rPr sz="1900" spc="-5" dirty="0">
                <a:latin typeface="Times New Roman"/>
                <a:cs typeface="Times New Roman"/>
              </a:rPr>
              <a:t>color </a:t>
            </a:r>
            <a:r>
              <a:rPr sz="1900" spc="15" dirty="0">
                <a:latin typeface="Times New Roman"/>
                <a:cs typeface="Times New Roman"/>
              </a:rPr>
              <a:t>stored </a:t>
            </a:r>
            <a:r>
              <a:rPr sz="1900" spc="30" dirty="0">
                <a:latin typeface="Times New Roman"/>
                <a:cs typeface="Times New Roman"/>
              </a:rPr>
              <a:t>at </a:t>
            </a:r>
            <a:r>
              <a:rPr sz="1900" spc="20" dirty="0">
                <a:latin typeface="Times New Roman"/>
                <a:cs typeface="Times New Roman"/>
              </a:rPr>
              <a:t>each </a:t>
            </a:r>
            <a:r>
              <a:rPr sz="1900" spc="-40" dirty="0">
                <a:latin typeface="Times New Roman"/>
                <a:cs typeface="Times New Roman"/>
              </a:rPr>
              <a:t>pixel. </a:t>
            </a:r>
            <a:r>
              <a:rPr sz="1900" spc="15" dirty="0">
                <a:latin typeface="Times New Roman"/>
                <a:cs typeface="Times New Roman"/>
              </a:rPr>
              <a:t>Double-</a:t>
            </a:r>
            <a:endParaRPr sz="1900" dirty="0">
              <a:latin typeface="Times New Roman"/>
              <a:cs typeface="Times New Roman"/>
            </a:endParaRPr>
          </a:p>
          <a:p>
            <a:pPr marL="533400">
              <a:lnSpc>
                <a:spcPts val="2160"/>
              </a:lnSpc>
            </a:pPr>
            <a:r>
              <a:rPr sz="1900" spc="40" dirty="0">
                <a:latin typeface="Times New Roman"/>
                <a:cs typeface="Times New Roman"/>
              </a:rPr>
              <a:t>buf</a:t>
            </a:r>
            <a:r>
              <a:rPr lang="en-US" sz="1900" spc="-65" dirty="0">
                <a:latin typeface="Times New Roman"/>
                <a:cs typeface="Times New Roman"/>
              </a:rPr>
              <a:t>f</a:t>
            </a:r>
            <a:r>
              <a:rPr sz="1900" spc="10" dirty="0">
                <a:latin typeface="Times New Roman"/>
                <a:cs typeface="Times New Roman"/>
              </a:rPr>
              <a:t>ering</a:t>
            </a:r>
            <a:r>
              <a:rPr sz="1900" spc="-45" dirty="0">
                <a:latin typeface="Times New Roman"/>
                <a:cs typeface="Times New Roman"/>
              </a:rPr>
              <a:t> </a:t>
            </a:r>
            <a:r>
              <a:rPr sz="1900" spc="-10" dirty="0">
                <a:latin typeface="Times New Roman"/>
                <a:cs typeface="Times New Roman"/>
              </a:rPr>
              <a:t>is</a:t>
            </a:r>
            <a:r>
              <a:rPr sz="1900" spc="-50" dirty="0">
                <a:latin typeface="Times New Roman"/>
                <a:cs typeface="Times New Roman"/>
              </a:rPr>
              <a:t> </a:t>
            </a:r>
            <a:r>
              <a:rPr sz="1900" spc="60" dirty="0">
                <a:latin typeface="Times New Roman"/>
                <a:cs typeface="Times New Roman"/>
              </a:rPr>
              <a:t>the</a:t>
            </a:r>
            <a:r>
              <a:rPr sz="1900" spc="-50" dirty="0">
                <a:latin typeface="Times New Roman"/>
                <a:cs typeface="Times New Roman"/>
              </a:rPr>
              <a:t> </a:t>
            </a:r>
            <a:r>
              <a:rPr sz="1900" spc="25" dirty="0">
                <a:latin typeface="Times New Roman"/>
                <a:cs typeface="Times New Roman"/>
              </a:rPr>
              <a:t>technique</a:t>
            </a:r>
            <a:r>
              <a:rPr sz="1900" spc="-50" dirty="0">
                <a:latin typeface="Times New Roman"/>
                <a:cs typeface="Times New Roman"/>
              </a:rPr>
              <a:t> </a:t>
            </a:r>
            <a:r>
              <a:rPr sz="1900" spc="-5" dirty="0">
                <a:latin typeface="Times New Roman"/>
                <a:cs typeface="Times New Roman"/>
              </a:rPr>
              <a:t>of</a:t>
            </a:r>
            <a:r>
              <a:rPr sz="1900" spc="-50" dirty="0">
                <a:latin typeface="Times New Roman"/>
                <a:cs typeface="Times New Roman"/>
              </a:rPr>
              <a:t> </a:t>
            </a:r>
            <a:r>
              <a:rPr sz="1900" spc="-25" dirty="0">
                <a:latin typeface="Times New Roman"/>
                <a:cs typeface="Times New Roman"/>
              </a:rPr>
              <a:t>calculating</a:t>
            </a:r>
            <a:r>
              <a:rPr sz="1900" spc="-50" dirty="0">
                <a:latin typeface="Times New Roman"/>
                <a:cs typeface="Times New Roman"/>
              </a:rPr>
              <a:t> </a:t>
            </a:r>
            <a:r>
              <a:rPr sz="1900" spc="65" dirty="0">
                <a:latin typeface="Times New Roman"/>
                <a:cs typeface="Times New Roman"/>
              </a:rPr>
              <a:t>one</a:t>
            </a:r>
            <a:r>
              <a:rPr sz="1900" spc="-50" dirty="0">
                <a:latin typeface="Times New Roman"/>
                <a:cs typeface="Times New Roman"/>
              </a:rPr>
              <a:t> </a:t>
            </a:r>
            <a:r>
              <a:rPr sz="1900" spc="-10" dirty="0">
                <a:latin typeface="Times New Roman"/>
                <a:cs typeface="Times New Roman"/>
              </a:rPr>
              <a:t>while</a:t>
            </a:r>
            <a:r>
              <a:rPr sz="1900" spc="-50" dirty="0">
                <a:latin typeface="Times New Roman"/>
                <a:cs typeface="Times New Roman"/>
              </a:rPr>
              <a:t> </a:t>
            </a:r>
            <a:r>
              <a:rPr sz="1900" spc="-25" dirty="0">
                <a:latin typeface="Times New Roman"/>
                <a:cs typeface="Times New Roman"/>
              </a:rPr>
              <a:t>displaying</a:t>
            </a:r>
            <a:r>
              <a:rPr sz="1900" spc="-45" dirty="0">
                <a:latin typeface="Times New Roman"/>
                <a:cs typeface="Times New Roman"/>
              </a:rPr>
              <a:t> </a:t>
            </a:r>
            <a:r>
              <a:rPr sz="1900" spc="60" dirty="0">
                <a:latin typeface="Times New Roman"/>
                <a:cs typeface="Times New Roman"/>
              </a:rPr>
              <a:t>the</a:t>
            </a:r>
            <a:r>
              <a:rPr sz="1900" spc="-50" dirty="0">
                <a:latin typeface="Times New Roman"/>
                <a:cs typeface="Times New Roman"/>
              </a:rPr>
              <a:t> </a:t>
            </a:r>
            <a:r>
              <a:rPr sz="1900" spc="-10" dirty="0">
                <a:latin typeface="Times New Roman"/>
                <a:cs typeface="Times New Roman"/>
              </a:rPr>
              <a:t>other.</a:t>
            </a:r>
            <a:endParaRPr sz="19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90"/>
              </a:spcBef>
            </a:pPr>
            <a:r>
              <a:rPr sz="2775" spc="-705" baseline="9009" dirty="0">
                <a:solidFill>
                  <a:srgbClr val="FD8536"/>
                </a:solidFill>
                <a:latin typeface="Arial"/>
                <a:cs typeface="Arial"/>
              </a:rPr>
              <a:t> </a:t>
            </a:r>
            <a:r>
              <a:rPr sz="2200" spc="85" dirty="0">
                <a:latin typeface="Times New Roman"/>
                <a:cs typeface="Times New Roman"/>
              </a:rPr>
              <a:t>Depth </a:t>
            </a:r>
            <a:r>
              <a:rPr sz="2200" spc="55" dirty="0">
                <a:latin typeface="Times New Roman"/>
                <a:cs typeface="Times New Roman"/>
              </a:rPr>
              <a:t>buf</a:t>
            </a:r>
            <a:r>
              <a:rPr lang="en-US" sz="2200" spc="55" dirty="0">
                <a:latin typeface="Times New Roman"/>
                <a:cs typeface="Times New Roman"/>
              </a:rPr>
              <a:t>f</a:t>
            </a:r>
            <a:r>
              <a:rPr sz="2200" spc="80" dirty="0">
                <a:latin typeface="Times New Roman"/>
                <a:cs typeface="Times New Roman"/>
              </a:rPr>
              <a:t>er </a:t>
            </a:r>
            <a:r>
              <a:rPr sz="2200" spc="-45" dirty="0">
                <a:latin typeface="Times New Roman"/>
                <a:cs typeface="Times New Roman"/>
              </a:rPr>
              <a:t>(</a:t>
            </a:r>
            <a:r>
              <a:rPr sz="2200" spc="-45" dirty="0" err="1">
                <a:latin typeface="Times New Roman"/>
                <a:cs typeface="Times New Roman"/>
              </a:rPr>
              <a:t>z-bu</a:t>
            </a:r>
            <a:r>
              <a:rPr lang="en-US" sz="2200" spc="-45" dirty="0" err="1">
                <a:latin typeface="Times New Roman"/>
                <a:cs typeface="Times New Roman"/>
              </a:rPr>
              <a:t>ff</a:t>
            </a:r>
            <a:r>
              <a:rPr sz="2200" spc="-25" dirty="0" err="1">
                <a:latin typeface="Times New Roman"/>
                <a:cs typeface="Times New Roman"/>
              </a:rPr>
              <a:t>er</a:t>
            </a:r>
            <a:r>
              <a:rPr sz="2200" spc="-25" dirty="0">
                <a:latin typeface="Times New Roman"/>
                <a:cs typeface="Times New Roman"/>
              </a:rPr>
              <a:t>)</a:t>
            </a:r>
            <a:endParaRPr sz="2200" dirty="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202689" y="5147309"/>
            <a:ext cx="119380" cy="2286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300" spc="-320" dirty="0">
                <a:solidFill>
                  <a:srgbClr val="7497D8"/>
                </a:solidFill>
                <a:latin typeface="Arial"/>
                <a:cs typeface="Arial"/>
              </a:rPr>
              <a:t></a:t>
            </a:r>
            <a:endParaRPr sz="13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449069" y="5119370"/>
            <a:ext cx="7030084" cy="584774"/>
          </a:xfrm>
          <a:prstGeom prst="rect">
            <a:avLst/>
          </a:prstGeom>
        </p:spPr>
        <p:txBody>
          <a:bodyPr vert="horz" wrap="square" lIns="0" tIns="45719" rIns="0" bIns="0" rtlCol="0">
            <a:spAutoFit/>
          </a:bodyPr>
          <a:lstStyle/>
          <a:p>
            <a:pPr marL="12700" marR="5080">
              <a:lnSpc>
                <a:spcPts val="2050"/>
              </a:lnSpc>
              <a:spcBef>
                <a:spcPts val="359"/>
              </a:spcBef>
            </a:pPr>
            <a:r>
              <a:rPr sz="1900" spc="25" dirty="0">
                <a:latin typeface="Times New Roman"/>
                <a:cs typeface="Times New Roman"/>
              </a:rPr>
              <a:t>Stores</a:t>
            </a:r>
            <a:r>
              <a:rPr sz="1900" spc="-60" dirty="0">
                <a:latin typeface="Times New Roman"/>
                <a:cs typeface="Times New Roman"/>
              </a:rPr>
              <a:t> </a:t>
            </a:r>
            <a:r>
              <a:rPr sz="1900" spc="60" dirty="0">
                <a:latin typeface="Times New Roman"/>
                <a:cs typeface="Times New Roman"/>
              </a:rPr>
              <a:t>depth</a:t>
            </a:r>
            <a:r>
              <a:rPr sz="1900" spc="-6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information</a:t>
            </a:r>
            <a:r>
              <a:rPr sz="1900" spc="-60" dirty="0">
                <a:latin typeface="Times New Roman"/>
                <a:cs typeface="Times New Roman"/>
              </a:rPr>
              <a:t> </a:t>
            </a:r>
            <a:r>
              <a:rPr sz="1900" spc="30" dirty="0">
                <a:latin typeface="Times New Roman"/>
                <a:cs typeface="Times New Roman"/>
              </a:rPr>
              <a:t>at</a:t>
            </a:r>
            <a:r>
              <a:rPr sz="1900" spc="-60" dirty="0">
                <a:latin typeface="Times New Roman"/>
                <a:cs typeface="Times New Roman"/>
              </a:rPr>
              <a:t> </a:t>
            </a:r>
            <a:r>
              <a:rPr sz="1900" spc="20" dirty="0">
                <a:latin typeface="Times New Roman"/>
                <a:cs typeface="Times New Roman"/>
              </a:rPr>
              <a:t>each</a:t>
            </a:r>
            <a:r>
              <a:rPr sz="1900" spc="-60" dirty="0">
                <a:latin typeface="Times New Roman"/>
                <a:cs typeface="Times New Roman"/>
              </a:rPr>
              <a:t> </a:t>
            </a:r>
            <a:r>
              <a:rPr sz="1900" spc="-40" dirty="0">
                <a:latin typeface="Times New Roman"/>
                <a:cs typeface="Times New Roman"/>
              </a:rPr>
              <a:t>pixel,</a:t>
            </a:r>
            <a:r>
              <a:rPr sz="1900" spc="-165" dirty="0">
                <a:latin typeface="Times New Roman"/>
                <a:cs typeface="Times New Roman"/>
              </a:rPr>
              <a:t> </a:t>
            </a:r>
            <a:r>
              <a:rPr sz="1900" spc="-5" dirty="0">
                <a:latin typeface="Times New Roman"/>
                <a:cs typeface="Times New Roman"/>
              </a:rPr>
              <a:t>al</a:t>
            </a:r>
            <a:r>
              <a:rPr lang="en-US" sz="1900" spc="-5" dirty="0">
                <a:latin typeface="Times New Roman"/>
                <a:cs typeface="Times New Roman"/>
              </a:rPr>
              <a:t>l</a:t>
            </a:r>
            <a:r>
              <a:rPr sz="1900" spc="-10" dirty="0">
                <a:latin typeface="Times New Roman"/>
                <a:cs typeface="Times New Roman"/>
              </a:rPr>
              <a:t>ows</a:t>
            </a:r>
            <a:r>
              <a:rPr sz="1900" spc="-55" dirty="0">
                <a:latin typeface="Times New Roman"/>
                <a:cs typeface="Times New Roman"/>
              </a:rPr>
              <a:t> </a:t>
            </a:r>
            <a:r>
              <a:rPr sz="1900" spc="-10" dirty="0">
                <a:latin typeface="Times New Roman"/>
                <a:cs typeface="Times New Roman"/>
              </a:rPr>
              <a:t>closer</a:t>
            </a:r>
            <a:r>
              <a:rPr sz="1900" spc="-60" dirty="0">
                <a:latin typeface="Times New Roman"/>
                <a:cs typeface="Times New Roman"/>
              </a:rPr>
              <a:t> </a:t>
            </a:r>
            <a:r>
              <a:rPr sz="1900" spc="-5" dirty="0">
                <a:latin typeface="Times New Roman"/>
                <a:cs typeface="Times New Roman"/>
              </a:rPr>
              <a:t>objects</a:t>
            </a:r>
            <a:r>
              <a:rPr sz="1900" spc="-60" dirty="0">
                <a:latin typeface="Times New Roman"/>
                <a:cs typeface="Times New Roman"/>
              </a:rPr>
              <a:t> </a:t>
            </a:r>
            <a:r>
              <a:rPr sz="1900" spc="45" dirty="0">
                <a:latin typeface="Times New Roman"/>
                <a:cs typeface="Times New Roman"/>
              </a:rPr>
              <a:t>to</a:t>
            </a:r>
            <a:r>
              <a:rPr sz="1900" spc="-55" dirty="0">
                <a:latin typeface="Times New Roman"/>
                <a:cs typeface="Times New Roman"/>
              </a:rPr>
              <a:t> </a:t>
            </a:r>
            <a:r>
              <a:rPr sz="1900" spc="80" dirty="0">
                <a:latin typeface="Times New Roman"/>
                <a:cs typeface="Times New Roman"/>
              </a:rPr>
              <a:t>be</a:t>
            </a:r>
            <a:r>
              <a:rPr sz="1900" spc="-60" dirty="0">
                <a:latin typeface="Times New Roman"/>
                <a:cs typeface="Times New Roman"/>
              </a:rPr>
              <a:t> </a:t>
            </a:r>
            <a:r>
              <a:rPr sz="1900" spc="30" dirty="0">
                <a:latin typeface="Times New Roman"/>
                <a:cs typeface="Times New Roman"/>
              </a:rPr>
              <a:t>drawn  </a:t>
            </a:r>
            <a:r>
              <a:rPr sz="1900" spc="95" dirty="0">
                <a:latin typeface="Times New Roman"/>
                <a:cs typeface="Times New Roman"/>
              </a:rPr>
              <a:t>on</a:t>
            </a:r>
            <a:r>
              <a:rPr sz="1900" spc="-70" dirty="0">
                <a:latin typeface="Times New Roman"/>
                <a:cs typeface="Times New Roman"/>
              </a:rPr>
              <a:t> </a:t>
            </a:r>
            <a:r>
              <a:rPr sz="1900" spc="45" dirty="0">
                <a:latin typeface="Times New Roman"/>
                <a:cs typeface="Times New Roman"/>
              </a:rPr>
              <a:t>top</a:t>
            </a:r>
            <a:r>
              <a:rPr sz="1900" spc="-65" dirty="0">
                <a:latin typeface="Times New Roman"/>
                <a:cs typeface="Times New Roman"/>
              </a:rPr>
              <a:t> </a:t>
            </a:r>
            <a:r>
              <a:rPr sz="1900" spc="-10" dirty="0">
                <a:latin typeface="Times New Roman"/>
                <a:cs typeface="Times New Roman"/>
              </a:rPr>
              <a:t>of</a:t>
            </a:r>
            <a:r>
              <a:rPr sz="1900" spc="-70" dirty="0">
                <a:latin typeface="Times New Roman"/>
                <a:cs typeface="Times New Roman"/>
              </a:rPr>
              <a:t> </a:t>
            </a:r>
            <a:r>
              <a:rPr sz="1900" spc="30" dirty="0">
                <a:latin typeface="Times New Roman"/>
                <a:cs typeface="Times New Roman"/>
              </a:rPr>
              <a:t>ones</a:t>
            </a:r>
            <a:r>
              <a:rPr sz="1900" spc="-65" dirty="0">
                <a:latin typeface="Times New Roman"/>
                <a:cs typeface="Times New Roman"/>
              </a:rPr>
              <a:t> </a:t>
            </a:r>
            <a:r>
              <a:rPr sz="1900" spc="20" dirty="0">
                <a:latin typeface="Times New Roman"/>
                <a:cs typeface="Times New Roman"/>
              </a:rPr>
              <a:t>further</a:t>
            </a:r>
            <a:r>
              <a:rPr sz="1900" spc="-70" dirty="0">
                <a:latin typeface="Times New Roman"/>
                <a:cs typeface="Times New Roman"/>
              </a:rPr>
              <a:t> </a:t>
            </a:r>
            <a:r>
              <a:rPr sz="1900" spc="-75" dirty="0">
                <a:latin typeface="Times New Roman"/>
                <a:cs typeface="Times New Roman"/>
              </a:rPr>
              <a:t>away</a:t>
            </a:r>
            <a:endParaRPr sz="19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4500" y="1073150"/>
            <a:ext cx="3590290" cy="787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215" dirty="0"/>
              <a:t>Drawing</a:t>
            </a:r>
            <a:r>
              <a:rPr spc="25" dirty="0"/>
              <a:t> </a:t>
            </a:r>
            <a:r>
              <a:rPr spc="65" dirty="0"/>
              <a:t>101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4669" y="1929129"/>
            <a:ext cx="7996555" cy="4213973"/>
          </a:xfrm>
          <a:prstGeom prst="rect">
            <a:avLst/>
          </a:prstGeom>
        </p:spPr>
        <p:txBody>
          <a:bodyPr vert="horz" wrap="square" lIns="0" tIns="58419" rIns="0" bIns="0" rtlCol="0">
            <a:spAutoFit/>
          </a:bodyPr>
          <a:lstStyle/>
          <a:p>
            <a:pPr marL="285750" marR="36195" indent="-273050">
              <a:lnSpc>
                <a:spcPts val="2800"/>
              </a:lnSpc>
              <a:spcBef>
                <a:spcPts val="459"/>
              </a:spcBef>
              <a:buClr>
                <a:srgbClr val="B22B15"/>
              </a:buClr>
              <a:buSzPct val="94230"/>
              <a:buFont typeface="Arial"/>
              <a:buChar char=""/>
              <a:tabLst>
                <a:tab pos="285750" algn="l"/>
                <a:tab pos="761365" algn="l"/>
              </a:tabLst>
            </a:pPr>
            <a:r>
              <a:rPr sz="2600" spc="-30" dirty="0">
                <a:latin typeface="Times New Roman"/>
                <a:cs typeface="Times New Roman"/>
              </a:rPr>
              <a:t>A</a:t>
            </a:r>
            <a:r>
              <a:rPr lang="en-US" sz="2600" spc="-30" dirty="0">
                <a:latin typeface="Times New Roman"/>
                <a:cs typeface="Times New Roman"/>
              </a:rPr>
              <a:t>ll</a:t>
            </a:r>
            <a:r>
              <a:rPr sz="2600" b="1" spc="-30" dirty="0">
                <a:latin typeface="Times New Roman"/>
                <a:cs typeface="Times New Roman"/>
              </a:rPr>
              <a:t>	</a:t>
            </a:r>
            <a:r>
              <a:rPr sz="2600" spc="-5" dirty="0">
                <a:latin typeface="Times New Roman"/>
                <a:cs typeface="Times New Roman"/>
              </a:rPr>
              <a:t>geometric</a:t>
            </a:r>
            <a:r>
              <a:rPr sz="2600" spc="-7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objects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spc="55" dirty="0">
                <a:latin typeface="Times New Roman"/>
                <a:cs typeface="Times New Roman"/>
              </a:rPr>
              <a:t>can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spc="-30" dirty="0">
                <a:latin typeface="Times New Roman"/>
                <a:cs typeface="Times New Roman"/>
              </a:rPr>
              <a:t>basical</a:t>
            </a:r>
            <a:r>
              <a:rPr lang="en-US" sz="2600" spc="-30" dirty="0">
                <a:latin typeface="Times New Roman"/>
                <a:cs typeface="Times New Roman"/>
              </a:rPr>
              <a:t>l</a:t>
            </a:r>
            <a:r>
              <a:rPr sz="2600" spc="-50" dirty="0">
                <a:latin typeface="Times New Roman"/>
                <a:cs typeface="Times New Roman"/>
              </a:rPr>
              <a:t>y</a:t>
            </a:r>
            <a:r>
              <a:rPr sz="2600" spc="-75" dirty="0">
                <a:latin typeface="Times New Roman"/>
                <a:cs typeface="Times New Roman"/>
              </a:rPr>
              <a:t> </a:t>
            </a:r>
            <a:r>
              <a:rPr sz="2600" spc="120" dirty="0">
                <a:latin typeface="Times New Roman"/>
                <a:cs typeface="Times New Roman"/>
              </a:rPr>
              <a:t>be</a:t>
            </a:r>
            <a:r>
              <a:rPr sz="2600" spc="-75" dirty="0">
                <a:latin typeface="Times New Roman"/>
                <a:cs typeface="Times New Roman"/>
              </a:rPr>
              <a:t> </a:t>
            </a:r>
            <a:r>
              <a:rPr sz="2600" spc="40" dirty="0">
                <a:latin typeface="Times New Roman"/>
                <a:cs typeface="Times New Roman"/>
              </a:rPr>
              <a:t>represented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as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spc="95" dirty="0">
                <a:latin typeface="Times New Roman"/>
                <a:cs typeface="Times New Roman"/>
              </a:rPr>
              <a:t>a</a:t>
            </a:r>
            <a:r>
              <a:rPr sz="2600" spc="-75" dirty="0">
                <a:latin typeface="Times New Roman"/>
                <a:cs typeface="Times New Roman"/>
              </a:rPr>
              <a:t> </a:t>
            </a:r>
            <a:r>
              <a:rPr sz="2600" spc="25" dirty="0">
                <a:latin typeface="Times New Roman"/>
                <a:cs typeface="Times New Roman"/>
              </a:rPr>
              <a:t>set  </a:t>
            </a:r>
            <a:r>
              <a:rPr sz="2600" dirty="0">
                <a:latin typeface="Times New Roman"/>
                <a:cs typeface="Times New Roman"/>
              </a:rPr>
              <a:t>of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spc="-30" dirty="0">
                <a:latin typeface="Times New Roman"/>
                <a:cs typeface="Times New Roman"/>
              </a:rPr>
              <a:t>vertices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spc="95" dirty="0">
                <a:latin typeface="Times New Roman"/>
                <a:cs typeface="Times New Roman"/>
              </a:rPr>
              <a:t>in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spc="30" dirty="0">
                <a:latin typeface="Times New Roman"/>
                <a:cs typeface="Times New Roman"/>
              </a:rPr>
              <a:t>2-D</a:t>
            </a:r>
            <a:r>
              <a:rPr sz="2600" spc="-75" dirty="0">
                <a:latin typeface="Times New Roman"/>
                <a:cs typeface="Times New Roman"/>
              </a:rPr>
              <a:t> </a:t>
            </a:r>
            <a:r>
              <a:rPr sz="2600" spc="95" dirty="0">
                <a:latin typeface="Times New Roman"/>
                <a:cs typeface="Times New Roman"/>
              </a:rPr>
              <a:t>or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spc="30" dirty="0">
                <a:latin typeface="Times New Roman"/>
                <a:cs typeface="Times New Roman"/>
              </a:rPr>
              <a:t>3-D</a:t>
            </a:r>
            <a:r>
              <a:rPr sz="2600" spc="-75" dirty="0">
                <a:latin typeface="Times New Roman"/>
                <a:cs typeface="Times New Roman"/>
              </a:rPr>
              <a:t> </a:t>
            </a:r>
            <a:r>
              <a:rPr sz="2600" spc="-15" dirty="0">
                <a:latin typeface="Times New Roman"/>
                <a:cs typeface="Times New Roman"/>
              </a:rPr>
              <a:t>space.</a:t>
            </a:r>
            <a:endParaRPr sz="2600" dirty="0">
              <a:latin typeface="Times New Roman"/>
              <a:cs typeface="Times New Roman"/>
            </a:endParaRPr>
          </a:p>
          <a:p>
            <a:pPr marL="285750" marR="649605" indent="-273050">
              <a:lnSpc>
                <a:spcPts val="2800"/>
              </a:lnSpc>
              <a:spcBef>
                <a:spcPts val="660"/>
              </a:spcBef>
              <a:buClr>
                <a:srgbClr val="B22B15"/>
              </a:buClr>
              <a:buSzPct val="94230"/>
              <a:buFont typeface="Arial"/>
              <a:buChar char=""/>
              <a:tabLst>
                <a:tab pos="285750" algn="l"/>
              </a:tabLst>
            </a:pPr>
            <a:r>
              <a:rPr sz="2600" spc="35" dirty="0">
                <a:latin typeface="Times New Roman"/>
                <a:cs typeface="Times New Roman"/>
              </a:rPr>
              <a:t>We</a:t>
            </a:r>
            <a:r>
              <a:rPr sz="2600" spc="-75" dirty="0">
                <a:latin typeface="Times New Roman"/>
                <a:cs typeface="Times New Roman"/>
              </a:rPr>
              <a:t> </a:t>
            </a:r>
            <a:r>
              <a:rPr sz="2600" spc="20" dirty="0">
                <a:latin typeface="Times New Roman"/>
                <a:cs typeface="Times New Roman"/>
              </a:rPr>
              <a:t>draw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objects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by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designating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spc="-35" dirty="0">
                <a:latin typeface="Times New Roman"/>
                <a:cs typeface="Times New Roman"/>
              </a:rPr>
              <a:t>vertices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105" dirty="0">
                <a:latin typeface="Times New Roman"/>
                <a:cs typeface="Times New Roman"/>
              </a:rPr>
              <a:t>and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spc="-60" dirty="0">
                <a:latin typeface="Times New Roman"/>
                <a:cs typeface="Times New Roman"/>
              </a:rPr>
              <a:t>deriving  </a:t>
            </a:r>
            <a:r>
              <a:rPr sz="2600" spc="-40" dirty="0">
                <a:latin typeface="Times New Roman"/>
                <a:cs typeface="Times New Roman"/>
              </a:rPr>
              <a:t>primitives,</a:t>
            </a:r>
            <a:r>
              <a:rPr sz="2600" spc="-215" dirty="0">
                <a:latin typeface="Times New Roman"/>
                <a:cs typeface="Times New Roman"/>
              </a:rPr>
              <a:t> </a:t>
            </a:r>
            <a:r>
              <a:rPr sz="2600" spc="90" dirty="0">
                <a:latin typeface="Times New Roman"/>
                <a:cs typeface="Times New Roman"/>
              </a:rPr>
              <a:t>or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Times New Roman"/>
                <a:cs typeface="Times New Roman"/>
              </a:rPr>
              <a:t>basic</a:t>
            </a:r>
            <a:r>
              <a:rPr sz="2600" spc="-75" dirty="0">
                <a:latin typeface="Times New Roman"/>
                <a:cs typeface="Times New Roman"/>
              </a:rPr>
              <a:t> </a:t>
            </a:r>
            <a:r>
              <a:rPr sz="2600" spc="30" dirty="0">
                <a:latin typeface="Times New Roman"/>
                <a:cs typeface="Times New Roman"/>
              </a:rPr>
              <a:t>shapes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spc="30" dirty="0">
                <a:latin typeface="Times New Roman"/>
                <a:cs typeface="Times New Roman"/>
              </a:rPr>
              <a:t>from</a:t>
            </a:r>
            <a:r>
              <a:rPr sz="2600" spc="-75" dirty="0">
                <a:latin typeface="Times New Roman"/>
                <a:cs typeface="Times New Roman"/>
              </a:rPr>
              <a:t> </a:t>
            </a:r>
            <a:r>
              <a:rPr sz="2600" spc="55" dirty="0">
                <a:latin typeface="Times New Roman"/>
                <a:cs typeface="Times New Roman"/>
              </a:rPr>
              <a:t>them.</a:t>
            </a:r>
            <a:endParaRPr sz="2600" dirty="0">
              <a:latin typeface="Times New Roman"/>
              <a:cs typeface="Times New Roman"/>
            </a:endParaRPr>
          </a:p>
          <a:p>
            <a:pPr marL="285750" marR="1311275" indent="-273050">
              <a:lnSpc>
                <a:spcPts val="2810"/>
              </a:lnSpc>
              <a:spcBef>
                <a:spcPts val="650"/>
              </a:spcBef>
              <a:buClr>
                <a:srgbClr val="B22B15"/>
              </a:buClr>
              <a:buSzPct val="94230"/>
              <a:buFont typeface="Arial"/>
              <a:buChar char=""/>
              <a:tabLst>
                <a:tab pos="285750" algn="l"/>
              </a:tabLst>
            </a:pPr>
            <a:r>
              <a:rPr sz="2600" spc="-35" dirty="0">
                <a:latin typeface="Times New Roman"/>
                <a:cs typeface="Times New Roman"/>
              </a:rPr>
              <a:t>Every</a:t>
            </a:r>
            <a:r>
              <a:rPr sz="2600" spc="-90" dirty="0">
                <a:latin typeface="Times New Roman"/>
                <a:cs typeface="Times New Roman"/>
              </a:rPr>
              <a:t> </a:t>
            </a:r>
            <a:r>
              <a:rPr sz="2600" spc="-50" dirty="0">
                <a:latin typeface="Times New Roman"/>
                <a:cs typeface="Times New Roman"/>
              </a:rPr>
              <a:t>vertex</a:t>
            </a:r>
            <a:r>
              <a:rPr sz="2600" spc="-90" dirty="0">
                <a:latin typeface="Times New Roman"/>
                <a:cs typeface="Times New Roman"/>
              </a:rPr>
              <a:t> </a:t>
            </a:r>
            <a:r>
              <a:rPr sz="2600" spc="55" dirty="0">
                <a:latin typeface="Times New Roman"/>
                <a:cs typeface="Times New Roman"/>
              </a:rPr>
              <a:t>can</a:t>
            </a:r>
            <a:r>
              <a:rPr sz="2600" spc="-80" dirty="0">
                <a:latin typeface="Times New Roman"/>
                <a:cs typeface="Times New Roman"/>
              </a:rPr>
              <a:t> </a:t>
            </a:r>
            <a:r>
              <a:rPr sz="2600" spc="114" dirty="0">
                <a:latin typeface="Times New Roman"/>
                <a:cs typeface="Times New Roman"/>
              </a:rPr>
              <a:t>be</a:t>
            </a:r>
            <a:r>
              <a:rPr sz="2600" spc="-90" dirty="0"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declared</a:t>
            </a:r>
            <a:r>
              <a:rPr sz="2600" spc="-85" dirty="0">
                <a:latin typeface="Times New Roman"/>
                <a:cs typeface="Times New Roman"/>
              </a:rPr>
              <a:t> </a:t>
            </a:r>
            <a:r>
              <a:rPr sz="2600" spc="20" dirty="0">
                <a:latin typeface="Times New Roman"/>
                <a:cs typeface="Times New Roman"/>
              </a:rPr>
              <a:t>using</a:t>
            </a:r>
            <a:r>
              <a:rPr sz="2600" spc="-90" dirty="0">
                <a:latin typeface="Times New Roman"/>
                <a:cs typeface="Times New Roman"/>
              </a:rPr>
              <a:t> </a:t>
            </a:r>
            <a:r>
              <a:rPr sz="2600" spc="85" dirty="0">
                <a:latin typeface="Times New Roman"/>
                <a:cs typeface="Times New Roman"/>
              </a:rPr>
              <a:t>the</a:t>
            </a:r>
            <a:r>
              <a:rPr sz="2600" spc="-90" dirty="0">
                <a:latin typeface="Times New Roman"/>
                <a:cs typeface="Times New Roman"/>
              </a:rPr>
              <a:t> </a:t>
            </a:r>
            <a:r>
              <a:rPr sz="2600" spc="-40" dirty="0">
                <a:latin typeface="Times New Roman"/>
                <a:cs typeface="Times New Roman"/>
              </a:rPr>
              <a:t>function:  </a:t>
            </a:r>
            <a:r>
              <a:rPr sz="2600" spc="-30" dirty="0">
                <a:latin typeface="Times New Roman"/>
                <a:cs typeface="Times New Roman"/>
              </a:rPr>
              <a:t>glVertex*()</a:t>
            </a:r>
            <a:endParaRPr sz="2600" dirty="0">
              <a:latin typeface="Times New Roman"/>
              <a:cs typeface="Times New Roman"/>
            </a:endParaRPr>
          </a:p>
          <a:p>
            <a:pPr marL="652780" marR="71120" lvl="1" indent="-246379" algn="just">
              <a:lnSpc>
                <a:spcPts val="2590"/>
              </a:lnSpc>
              <a:spcBef>
                <a:spcPts val="595"/>
              </a:spcBef>
              <a:buClr>
                <a:srgbClr val="FD8536"/>
              </a:buClr>
              <a:buSzPct val="85416"/>
              <a:buFont typeface="Arial"/>
              <a:buChar char=""/>
              <a:tabLst>
                <a:tab pos="652780" algn="l"/>
              </a:tabLst>
            </a:pPr>
            <a:r>
              <a:rPr sz="2400" spc="15" dirty="0">
                <a:latin typeface="Times New Roman"/>
                <a:cs typeface="Times New Roman"/>
              </a:rPr>
              <a:t>Here,</a:t>
            </a:r>
            <a:r>
              <a:rPr sz="2400" spc="-200" dirty="0">
                <a:latin typeface="Times New Roman"/>
                <a:cs typeface="Times New Roman"/>
              </a:rPr>
              <a:t> </a:t>
            </a:r>
            <a:r>
              <a:rPr sz="2400" spc="-135" dirty="0">
                <a:latin typeface="Times New Roman"/>
                <a:cs typeface="Times New Roman"/>
              </a:rPr>
              <a:t>*</a:t>
            </a:r>
            <a:r>
              <a:rPr sz="2400" spc="-6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is</a:t>
            </a:r>
            <a:r>
              <a:rPr sz="2400" spc="-70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simply</a:t>
            </a:r>
            <a:r>
              <a:rPr sz="2400" spc="-70" dirty="0">
                <a:latin typeface="Times New Roman"/>
                <a:cs typeface="Times New Roman"/>
              </a:rPr>
              <a:t> </a:t>
            </a:r>
            <a:r>
              <a:rPr sz="2400" spc="105" dirty="0">
                <a:latin typeface="Times New Roman"/>
                <a:cs typeface="Times New Roman"/>
              </a:rPr>
              <a:t>an</a:t>
            </a:r>
            <a:r>
              <a:rPr sz="2400" spc="-6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expre</a:t>
            </a:r>
            <a:r>
              <a:rPr lang="en-US" sz="2400" spc="-10" dirty="0">
                <a:latin typeface="Times New Roman"/>
                <a:cs typeface="Times New Roman"/>
              </a:rPr>
              <a:t>ss</a:t>
            </a:r>
            <a:r>
              <a:rPr sz="2400" spc="50" dirty="0">
                <a:latin typeface="Times New Roman"/>
                <a:cs typeface="Times New Roman"/>
              </a:rPr>
              <a:t>ion</a:t>
            </a:r>
            <a:r>
              <a:rPr sz="2400" spc="-65" dirty="0">
                <a:latin typeface="Times New Roman"/>
                <a:cs typeface="Times New Roman"/>
              </a:rPr>
              <a:t> </a:t>
            </a:r>
            <a:r>
              <a:rPr sz="2400" spc="45" dirty="0">
                <a:latin typeface="Times New Roman"/>
                <a:cs typeface="Times New Roman"/>
              </a:rPr>
              <a:t>that</a:t>
            </a:r>
            <a:r>
              <a:rPr sz="2400" spc="-6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consists</a:t>
            </a:r>
            <a:r>
              <a:rPr sz="2400" spc="-7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of</a:t>
            </a:r>
            <a:r>
              <a:rPr sz="2400" spc="-65" dirty="0">
                <a:latin typeface="Times New Roman"/>
                <a:cs typeface="Times New Roman"/>
              </a:rPr>
              <a:t> </a:t>
            </a:r>
            <a:r>
              <a:rPr sz="2400" spc="80" dirty="0">
                <a:latin typeface="Times New Roman"/>
                <a:cs typeface="Times New Roman"/>
              </a:rPr>
              <a:t>the</a:t>
            </a:r>
            <a:r>
              <a:rPr sz="2400" spc="-65" dirty="0">
                <a:latin typeface="Times New Roman"/>
                <a:cs typeface="Times New Roman"/>
              </a:rPr>
              <a:t> </a:t>
            </a:r>
            <a:r>
              <a:rPr sz="2400" spc="85" dirty="0">
                <a:latin typeface="Times New Roman"/>
                <a:cs typeface="Times New Roman"/>
              </a:rPr>
              <a:t>number  </a:t>
            </a:r>
            <a:r>
              <a:rPr sz="2400" spc="-10" dirty="0">
                <a:latin typeface="Times New Roman"/>
                <a:cs typeface="Times New Roman"/>
              </a:rPr>
              <a:t>of</a:t>
            </a:r>
            <a:r>
              <a:rPr sz="2400" spc="-80" dirty="0">
                <a:latin typeface="Times New Roman"/>
                <a:cs typeface="Times New Roman"/>
              </a:rPr>
              <a:t> </a:t>
            </a:r>
            <a:r>
              <a:rPr sz="2400" spc="10" dirty="0">
                <a:latin typeface="Times New Roman"/>
                <a:cs typeface="Times New Roman"/>
              </a:rPr>
              <a:t>dimensions</a:t>
            </a:r>
            <a:r>
              <a:rPr sz="2400" spc="-80" dirty="0">
                <a:latin typeface="Times New Roman"/>
                <a:cs typeface="Times New Roman"/>
              </a:rPr>
              <a:t> </a:t>
            </a:r>
            <a:r>
              <a:rPr sz="2400" spc="75" dirty="0">
                <a:latin typeface="Times New Roman"/>
                <a:cs typeface="Times New Roman"/>
              </a:rPr>
              <a:t>our</a:t>
            </a:r>
            <a:r>
              <a:rPr sz="2400" spc="-75" dirty="0">
                <a:latin typeface="Times New Roman"/>
                <a:cs typeface="Times New Roman"/>
              </a:rPr>
              <a:t> </a:t>
            </a:r>
            <a:r>
              <a:rPr sz="2400" spc="-55" dirty="0">
                <a:latin typeface="Times New Roman"/>
                <a:cs typeface="Times New Roman"/>
              </a:rPr>
              <a:t>vertex</a:t>
            </a:r>
            <a:r>
              <a:rPr sz="2400" spc="-85" dirty="0">
                <a:latin typeface="Times New Roman"/>
                <a:cs typeface="Times New Roman"/>
              </a:rPr>
              <a:t> </a:t>
            </a:r>
            <a:r>
              <a:rPr sz="2400" spc="-15" dirty="0">
                <a:latin typeface="Times New Roman"/>
                <a:cs typeface="Times New Roman"/>
              </a:rPr>
              <a:t>is</a:t>
            </a:r>
            <a:r>
              <a:rPr sz="2400" spc="-80" dirty="0">
                <a:latin typeface="Times New Roman"/>
                <a:cs typeface="Times New Roman"/>
              </a:rPr>
              <a:t> </a:t>
            </a:r>
            <a:r>
              <a:rPr sz="2400" spc="75" dirty="0">
                <a:latin typeface="Times New Roman"/>
                <a:cs typeface="Times New Roman"/>
              </a:rPr>
              <a:t>in</a:t>
            </a:r>
            <a:r>
              <a:rPr sz="2400" spc="-70" dirty="0">
                <a:latin typeface="Times New Roman"/>
                <a:cs typeface="Times New Roman"/>
              </a:rPr>
              <a:t> </a:t>
            </a:r>
            <a:r>
              <a:rPr sz="2400" spc="90" dirty="0">
                <a:latin typeface="Times New Roman"/>
                <a:cs typeface="Times New Roman"/>
              </a:rPr>
              <a:t>and</a:t>
            </a:r>
            <a:r>
              <a:rPr sz="2400" spc="-80" dirty="0">
                <a:latin typeface="Times New Roman"/>
                <a:cs typeface="Times New Roman"/>
              </a:rPr>
              <a:t> </a:t>
            </a:r>
            <a:r>
              <a:rPr sz="2400" spc="75" dirty="0">
                <a:latin typeface="Times New Roman"/>
                <a:cs typeface="Times New Roman"/>
              </a:rPr>
              <a:t>the</a:t>
            </a:r>
            <a:r>
              <a:rPr sz="2400" spc="-8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type</a:t>
            </a:r>
            <a:r>
              <a:rPr sz="2400" spc="-7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of</a:t>
            </a:r>
            <a:r>
              <a:rPr sz="2400" spc="-75" dirty="0">
                <a:latin typeface="Times New Roman"/>
                <a:cs typeface="Times New Roman"/>
              </a:rPr>
              <a:t> </a:t>
            </a:r>
            <a:r>
              <a:rPr sz="2400" spc="20" dirty="0">
                <a:latin typeface="Times New Roman"/>
                <a:cs typeface="Times New Roman"/>
              </a:rPr>
              <a:t>parameter</a:t>
            </a:r>
            <a:r>
              <a:rPr sz="2400" spc="-75" dirty="0">
                <a:latin typeface="Times New Roman"/>
                <a:cs typeface="Times New Roman"/>
              </a:rPr>
              <a:t> </a:t>
            </a:r>
            <a:r>
              <a:rPr sz="2400" spc="5" dirty="0">
                <a:latin typeface="Times New Roman"/>
                <a:cs typeface="Times New Roman"/>
              </a:rPr>
              <a:t>we  </a:t>
            </a:r>
            <a:r>
              <a:rPr sz="2400" spc="25" dirty="0">
                <a:latin typeface="Times New Roman"/>
                <a:cs typeface="Times New Roman"/>
              </a:rPr>
              <a:t>are </a:t>
            </a:r>
            <a:r>
              <a:rPr sz="2400" spc="30" dirty="0">
                <a:latin typeface="Times New Roman"/>
                <a:cs typeface="Times New Roman"/>
              </a:rPr>
              <a:t>pa</a:t>
            </a:r>
            <a:r>
              <a:rPr lang="en-US" sz="2400" spc="30" dirty="0">
                <a:latin typeface="Times New Roman"/>
                <a:cs typeface="Times New Roman"/>
              </a:rPr>
              <a:t>ss</a:t>
            </a:r>
            <a:r>
              <a:rPr sz="2400" spc="10" dirty="0">
                <a:latin typeface="Times New Roman"/>
                <a:cs typeface="Times New Roman"/>
              </a:rPr>
              <a:t>ing </a:t>
            </a:r>
            <a:r>
              <a:rPr sz="2400" spc="55" dirty="0">
                <a:latin typeface="Times New Roman"/>
                <a:cs typeface="Times New Roman"/>
              </a:rPr>
              <a:t>to </a:t>
            </a:r>
            <a:r>
              <a:rPr sz="2400" spc="70" dirty="0">
                <a:latin typeface="Times New Roman"/>
                <a:cs typeface="Times New Roman"/>
              </a:rPr>
              <a:t>the</a:t>
            </a:r>
            <a:r>
              <a:rPr sz="2400" spc="-36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function.</a:t>
            </a:r>
            <a:endParaRPr sz="2400" dirty="0">
              <a:latin typeface="Times New Roman"/>
              <a:cs typeface="Times New Roman"/>
            </a:endParaRPr>
          </a:p>
          <a:p>
            <a:pPr marL="652780" marR="5080" lvl="1" indent="-246379">
              <a:lnSpc>
                <a:spcPts val="2590"/>
              </a:lnSpc>
              <a:spcBef>
                <a:spcPts val="600"/>
              </a:spcBef>
              <a:buClr>
                <a:srgbClr val="FD8536"/>
              </a:buClr>
              <a:buSzPct val="85416"/>
              <a:buFont typeface="Arial"/>
              <a:buChar char=""/>
              <a:tabLst>
                <a:tab pos="652780" algn="l"/>
              </a:tabLst>
            </a:pPr>
            <a:r>
              <a:rPr sz="2400" spc="50" dirty="0">
                <a:latin typeface="Times New Roman"/>
                <a:cs typeface="Times New Roman"/>
              </a:rPr>
              <a:t>For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15" dirty="0">
                <a:latin typeface="Times New Roman"/>
                <a:cs typeface="Times New Roman"/>
              </a:rPr>
              <a:t>example:</a:t>
            </a:r>
            <a:r>
              <a:rPr sz="2400" spc="-140" dirty="0">
                <a:latin typeface="Times New Roman"/>
                <a:cs typeface="Times New Roman"/>
              </a:rPr>
              <a:t> </a:t>
            </a:r>
            <a:r>
              <a:rPr sz="2400" spc="-55" dirty="0">
                <a:latin typeface="Times New Roman"/>
                <a:cs typeface="Times New Roman"/>
              </a:rPr>
              <a:t>glVertex3f(0.0,</a:t>
            </a:r>
            <a:r>
              <a:rPr sz="2400" spc="-14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0.0,</a:t>
            </a:r>
            <a:r>
              <a:rPr sz="2400" spc="-145" dirty="0">
                <a:latin typeface="Times New Roman"/>
                <a:cs typeface="Times New Roman"/>
              </a:rPr>
              <a:t> </a:t>
            </a:r>
            <a:r>
              <a:rPr sz="2400" spc="-60" dirty="0">
                <a:latin typeface="Times New Roman"/>
                <a:cs typeface="Times New Roman"/>
              </a:rPr>
              <a:t>1.0)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80" dirty="0">
                <a:latin typeface="Times New Roman"/>
                <a:cs typeface="Times New Roman"/>
              </a:rPr>
              <a:t>denotes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85" dirty="0">
                <a:latin typeface="Times New Roman"/>
                <a:cs typeface="Times New Roman"/>
              </a:rPr>
              <a:t>a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vertex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105" dirty="0">
                <a:latin typeface="Times New Roman"/>
                <a:cs typeface="Times New Roman"/>
              </a:rPr>
              <a:t>in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spc="-130" dirty="0">
                <a:latin typeface="Times New Roman"/>
                <a:cs typeface="Times New Roman"/>
              </a:rPr>
              <a:t>3-  </a:t>
            </a:r>
            <a:r>
              <a:rPr sz="2400" spc="220" dirty="0">
                <a:latin typeface="Times New Roman"/>
                <a:cs typeface="Times New Roman"/>
              </a:rPr>
              <a:t>D</a:t>
            </a:r>
            <a:r>
              <a:rPr sz="2400" spc="-80" dirty="0">
                <a:latin typeface="Times New Roman"/>
                <a:cs typeface="Times New Roman"/>
              </a:rPr>
              <a:t> </a:t>
            </a:r>
            <a:r>
              <a:rPr sz="2400" spc="5" dirty="0">
                <a:latin typeface="Times New Roman"/>
                <a:cs typeface="Times New Roman"/>
              </a:rPr>
              <a:t>space</a:t>
            </a:r>
            <a:r>
              <a:rPr sz="2400" spc="-80" dirty="0">
                <a:latin typeface="Times New Roman"/>
                <a:cs typeface="Times New Roman"/>
              </a:rPr>
              <a:t> </a:t>
            </a:r>
            <a:r>
              <a:rPr sz="2400" spc="15" dirty="0">
                <a:latin typeface="Times New Roman"/>
                <a:cs typeface="Times New Roman"/>
              </a:rPr>
              <a:t>with</a:t>
            </a:r>
            <a:r>
              <a:rPr sz="2400" spc="-75" dirty="0">
                <a:latin typeface="Times New Roman"/>
                <a:cs typeface="Times New Roman"/>
              </a:rPr>
              <a:t> </a:t>
            </a:r>
            <a:r>
              <a:rPr sz="2400" spc="95" dirty="0">
                <a:latin typeface="Times New Roman"/>
                <a:cs typeface="Times New Roman"/>
              </a:rPr>
              <a:t>f</a:t>
            </a:r>
            <a:r>
              <a:rPr lang="en-US" sz="2400" spc="95" dirty="0">
                <a:latin typeface="Times New Roman"/>
                <a:cs typeface="Times New Roman"/>
              </a:rPr>
              <a:t>l</a:t>
            </a:r>
            <a:r>
              <a:rPr sz="2400" spc="95" dirty="0">
                <a:latin typeface="Times New Roman"/>
                <a:cs typeface="Times New Roman"/>
              </a:rPr>
              <a:t>oats</a:t>
            </a:r>
            <a:r>
              <a:rPr sz="2400" spc="-85" dirty="0">
                <a:latin typeface="Times New Roman"/>
                <a:cs typeface="Times New Roman"/>
              </a:rPr>
              <a:t> </a:t>
            </a:r>
            <a:r>
              <a:rPr sz="2400" spc="35" dirty="0">
                <a:latin typeface="Times New Roman"/>
                <a:cs typeface="Times New Roman"/>
              </a:rPr>
              <a:t>pa</a:t>
            </a:r>
            <a:r>
              <a:rPr lang="en-US" sz="2400" spc="35" dirty="0">
                <a:latin typeface="Times New Roman"/>
                <a:cs typeface="Times New Roman"/>
              </a:rPr>
              <a:t>ss</a:t>
            </a:r>
            <a:r>
              <a:rPr sz="2400" spc="105" dirty="0">
                <a:latin typeface="Times New Roman"/>
                <a:cs typeface="Times New Roman"/>
              </a:rPr>
              <a:t>ed</a:t>
            </a:r>
            <a:r>
              <a:rPr sz="2400" spc="-85" dirty="0">
                <a:latin typeface="Times New Roman"/>
                <a:cs typeface="Times New Roman"/>
              </a:rPr>
              <a:t> </a:t>
            </a:r>
            <a:r>
              <a:rPr sz="2400" spc="85" dirty="0">
                <a:latin typeface="Times New Roman"/>
                <a:cs typeface="Times New Roman"/>
              </a:rPr>
              <a:t>in</a:t>
            </a:r>
            <a:r>
              <a:rPr sz="2400" spc="-75" dirty="0">
                <a:latin typeface="Times New Roman"/>
                <a:cs typeface="Times New Roman"/>
              </a:rPr>
              <a:t> </a:t>
            </a:r>
            <a:r>
              <a:rPr sz="2400" spc="15" dirty="0">
                <a:latin typeface="Times New Roman"/>
                <a:cs typeface="Times New Roman"/>
              </a:rPr>
              <a:t>as</a:t>
            </a:r>
            <a:r>
              <a:rPr sz="2400" spc="-8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parameters.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4500" y="1073150"/>
            <a:ext cx="5887720" cy="787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204" dirty="0"/>
              <a:t>Geometric</a:t>
            </a:r>
            <a:r>
              <a:rPr spc="10" dirty="0"/>
              <a:t> </a:t>
            </a:r>
            <a:r>
              <a:rPr spc="130" dirty="0"/>
              <a:t>Primitives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4669" y="1968500"/>
            <a:ext cx="8067675" cy="1737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5750" marR="5080" indent="-273050">
              <a:lnSpc>
                <a:spcPct val="100000"/>
              </a:lnSpc>
              <a:spcBef>
                <a:spcPts val="100"/>
              </a:spcBef>
              <a:buClr>
                <a:srgbClr val="B22B15"/>
              </a:buClr>
              <a:buSzPct val="94230"/>
              <a:buFont typeface="Arial"/>
              <a:buChar char=""/>
              <a:tabLst>
                <a:tab pos="285750" algn="l"/>
              </a:tabLst>
            </a:pPr>
            <a:r>
              <a:rPr sz="2600" spc="130" dirty="0">
                <a:latin typeface="Times New Roman"/>
                <a:cs typeface="Times New Roman"/>
              </a:rPr>
              <a:t>In</a:t>
            </a:r>
            <a:r>
              <a:rPr sz="2600" spc="-80" dirty="0">
                <a:latin typeface="Times New Roman"/>
                <a:cs typeface="Times New Roman"/>
              </a:rPr>
              <a:t> </a:t>
            </a:r>
            <a:r>
              <a:rPr sz="2600" spc="55" dirty="0">
                <a:latin typeface="Times New Roman"/>
                <a:cs typeface="Times New Roman"/>
              </a:rPr>
              <a:t>OpenGL,</a:t>
            </a:r>
            <a:r>
              <a:rPr sz="2600" spc="-225" dirty="0">
                <a:latin typeface="Times New Roman"/>
                <a:cs typeface="Times New Roman"/>
              </a:rPr>
              <a:t> </a:t>
            </a:r>
            <a:r>
              <a:rPr sz="2600" spc="-40" dirty="0">
                <a:latin typeface="Times New Roman"/>
                <a:cs typeface="Times New Roman"/>
              </a:rPr>
              <a:t>primitives</a:t>
            </a:r>
            <a:r>
              <a:rPr sz="2600" spc="-80" dirty="0">
                <a:latin typeface="Times New Roman"/>
                <a:cs typeface="Times New Roman"/>
              </a:rPr>
              <a:t> </a:t>
            </a:r>
            <a:r>
              <a:rPr sz="2600" spc="30" dirty="0">
                <a:latin typeface="Times New Roman"/>
                <a:cs typeface="Times New Roman"/>
              </a:rPr>
              <a:t>are</a:t>
            </a:r>
            <a:r>
              <a:rPr sz="2600" spc="-80" dirty="0">
                <a:latin typeface="Times New Roman"/>
                <a:cs typeface="Times New Roman"/>
              </a:rPr>
              <a:t> </a:t>
            </a:r>
            <a:r>
              <a:rPr sz="2600" spc="30" dirty="0">
                <a:latin typeface="Times New Roman"/>
                <a:cs typeface="Times New Roman"/>
              </a:rPr>
              <a:t>nothing</a:t>
            </a:r>
            <a:r>
              <a:rPr sz="2600" spc="-85" dirty="0">
                <a:latin typeface="Times New Roman"/>
                <a:cs typeface="Times New Roman"/>
              </a:rPr>
              <a:t> </a:t>
            </a:r>
            <a:r>
              <a:rPr sz="2600" spc="50" dirty="0">
                <a:latin typeface="Times New Roman"/>
                <a:cs typeface="Times New Roman"/>
              </a:rPr>
              <a:t>more</a:t>
            </a:r>
            <a:r>
              <a:rPr sz="2600" spc="-85" dirty="0">
                <a:latin typeface="Times New Roman"/>
                <a:cs typeface="Times New Roman"/>
              </a:rPr>
              <a:t> </a:t>
            </a:r>
            <a:r>
              <a:rPr sz="2600" spc="75" dirty="0">
                <a:latin typeface="Times New Roman"/>
                <a:cs typeface="Times New Roman"/>
              </a:rPr>
              <a:t>than</a:t>
            </a:r>
            <a:r>
              <a:rPr sz="2600" spc="-75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Times New Roman"/>
                <a:cs typeface="Times New Roman"/>
              </a:rPr>
              <a:t>points,</a:t>
            </a:r>
            <a:r>
              <a:rPr sz="2600" spc="-225" dirty="0">
                <a:latin typeface="Times New Roman"/>
                <a:cs typeface="Times New Roman"/>
              </a:rPr>
              <a:t> </a:t>
            </a:r>
            <a:r>
              <a:rPr sz="2600" spc="-105" dirty="0">
                <a:latin typeface="Times New Roman"/>
                <a:cs typeface="Times New Roman"/>
              </a:rPr>
              <a:t>lines,  </a:t>
            </a:r>
            <a:r>
              <a:rPr sz="2600" spc="100" dirty="0">
                <a:latin typeface="Times New Roman"/>
                <a:cs typeface="Times New Roman"/>
              </a:rPr>
              <a:t>and</a:t>
            </a:r>
            <a:r>
              <a:rPr sz="2600" spc="-100" dirty="0">
                <a:latin typeface="Times New Roman"/>
                <a:cs typeface="Times New Roman"/>
              </a:rPr>
              <a:t> </a:t>
            </a:r>
            <a:r>
              <a:rPr sz="2600" spc="-25" dirty="0">
                <a:latin typeface="Times New Roman"/>
                <a:cs typeface="Times New Roman"/>
              </a:rPr>
              <a:t>polygons</a:t>
            </a:r>
            <a:r>
              <a:rPr sz="2600" spc="-90" dirty="0">
                <a:latin typeface="Times New Roman"/>
                <a:cs typeface="Times New Roman"/>
              </a:rPr>
              <a:t> </a:t>
            </a:r>
            <a:r>
              <a:rPr sz="2600" spc="45" dirty="0">
                <a:latin typeface="Times New Roman"/>
                <a:cs typeface="Times New Roman"/>
              </a:rPr>
              <a:t>that</a:t>
            </a:r>
            <a:r>
              <a:rPr sz="2600" spc="-90" dirty="0">
                <a:latin typeface="Times New Roman"/>
                <a:cs typeface="Times New Roman"/>
              </a:rPr>
              <a:t> </a:t>
            </a:r>
            <a:r>
              <a:rPr sz="2600" spc="10" dirty="0">
                <a:latin typeface="Times New Roman"/>
                <a:cs typeface="Times New Roman"/>
              </a:rPr>
              <a:t>make</a:t>
            </a:r>
            <a:r>
              <a:rPr sz="2600" spc="-95" dirty="0">
                <a:latin typeface="Times New Roman"/>
                <a:cs typeface="Times New Roman"/>
              </a:rPr>
              <a:t> </a:t>
            </a:r>
            <a:r>
              <a:rPr sz="2600" spc="155" dirty="0">
                <a:latin typeface="Times New Roman"/>
                <a:cs typeface="Times New Roman"/>
              </a:rPr>
              <a:t>up</a:t>
            </a:r>
            <a:r>
              <a:rPr sz="2600" spc="-95" dirty="0">
                <a:latin typeface="Times New Roman"/>
                <a:cs typeface="Times New Roman"/>
              </a:rPr>
              <a:t> </a:t>
            </a:r>
            <a:r>
              <a:rPr sz="2600" spc="-15" dirty="0">
                <a:latin typeface="Times New Roman"/>
                <a:cs typeface="Times New Roman"/>
              </a:rPr>
              <a:t>larger</a:t>
            </a:r>
            <a:r>
              <a:rPr sz="2600" spc="-90" dirty="0">
                <a:latin typeface="Times New Roman"/>
                <a:cs typeface="Times New Roman"/>
              </a:rPr>
              <a:t> </a:t>
            </a:r>
            <a:r>
              <a:rPr sz="2600" spc="-30" dirty="0">
                <a:latin typeface="Times New Roman"/>
                <a:cs typeface="Times New Roman"/>
              </a:rPr>
              <a:t>objects.</a:t>
            </a:r>
            <a:endParaRPr sz="2600" dirty="0">
              <a:latin typeface="Times New Roman"/>
              <a:cs typeface="Times New Roman"/>
            </a:endParaRPr>
          </a:p>
          <a:p>
            <a:pPr marL="285750" indent="-273050">
              <a:lnSpc>
                <a:spcPct val="100000"/>
              </a:lnSpc>
              <a:spcBef>
                <a:spcPts val="640"/>
              </a:spcBef>
              <a:buClr>
                <a:srgbClr val="B22B15"/>
              </a:buClr>
              <a:buSzPct val="94230"/>
              <a:buFont typeface="Arial"/>
              <a:buChar char=""/>
              <a:tabLst>
                <a:tab pos="285750" algn="l"/>
              </a:tabLst>
            </a:pPr>
            <a:r>
              <a:rPr sz="2600" spc="5" dirty="0">
                <a:latin typeface="Times New Roman"/>
                <a:cs typeface="Times New Roman"/>
              </a:rPr>
              <a:t>Declare</a:t>
            </a:r>
            <a:r>
              <a:rPr sz="2600" spc="-75" dirty="0">
                <a:latin typeface="Times New Roman"/>
                <a:cs typeface="Times New Roman"/>
              </a:rPr>
              <a:t> </a:t>
            </a:r>
            <a:r>
              <a:rPr sz="2600" spc="30" dirty="0">
                <a:latin typeface="Times New Roman"/>
                <a:cs typeface="Times New Roman"/>
              </a:rPr>
              <a:t>what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50" dirty="0">
                <a:latin typeface="Times New Roman"/>
                <a:cs typeface="Times New Roman"/>
              </a:rPr>
              <a:t>kind</a:t>
            </a:r>
            <a:r>
              <a:rPr sz="2600" spc="-75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of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25" dirty="0">
                <a:latin typeface="Times New Roman"/>
                <a:cs typeface="Times New Roman"/>
              </a:rPr>
              <a:t>primitive</a:t>
            </a:r>
            <a:r>
              <a:rPr sz="2600" spc="-75" dirty="0">
                <a:latin typeface="Times New Roman"/>
                <a:cs typeface="Times New Roman"/>
              </a:rPr>
              <a:t> </a:t>
            </a:r>
            <a:r>
              <a:rPr sz="2600" spc="5" dirty="0">
                <a:latin typeface="Times New Roman"/>
                <a:cs typeface="Times New Roman"/>
              </a:rPr>
              <a:t>we</a:t>
            </a:r>
            <a:r>
              <a:rPr sz="2600" spc="-75" dirty="0">
                <a:latin typeface="Times New Roman"/>
                <a:cs typeface="Times New Roman"/>
              </a:rPr>
              <a:t> </a:t>
            </a:r>
            <a:r>
              <a:rPr sz="2600" spc="40" dirty="0">
                <a:latin typeface="Times New Roman"/>
                <a:cs typeface="Times New Roman"/>
              </a:rPr>
              <a:t>are</a:t>
            </a:r>
            <a:r>
              <a:rPr sz="2600" spc="-7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drawing</a:t>
            </a:r>
          </a:p>
          <a:p>
            <a:pPr marL="405765">
              <a:lnSpc>
                <a:spcPct val="100000"/>
              </a:lnSpc>
              <a:spcBef>
                <a:spcPts val="600"/>
              </a:spcBef>
            </a:pPr>
            <a:r>
              <a:rPr sz="3075" spc="-817" baseline="8130" dirty="0">
                <a:solidFill>
                  <a:srgbClr val="FD8536"/>
                </a:solidFill>
                <a:latin typeface="Arial"/>
                <a:cs typeface="Arial"/>
              </a:rPr>
              <a:t> </a:t>
            </a:r>
            <a:r>
              <a:rPr sz="2400" spc="-5" dirty="0">
                <a:latin typeface="Times New Roman"/>
                <a:cs typeface="Times New Roman"/>
              </a:rPr>
              <a:t>glBegin(Glenum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i="1" spc="-5" dirty="0">
                <a:latin typeface="Times New Roman"/>
                <a:cs typeface="Times New Roman"/>
              </a:rPr>
              <a:t>mode</a:t>
            </a:r>
            <a:r>
              <a:rPr sz="2400" spc="-5" dirty="0">
                <a:latin typeface="Times New Roman"/>
                <a:cs typeface="Times New Roman"/>
              </a:rPr>
              <a:t>);</a:t>
            </a:r>
            <a:endParaRPr sz="2400" dirty="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202689" y="3778250"/>
            <a:ext cx="128905" cy="249554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450" spc="-365" dirty="0">
                <a:solidFill>
                  <a:srgbClr val="7497D8"/>
                </a:solidFill>
                <a:latin typeface="Arial"/>
                <a:cs typeface="Arial"/>
              </a:rPr>
              <a:t></a:t>
            </a:r>
            <a:endParaRPr sz="145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449069" y="3747770"/>
            <a:ext cx="5732145" cy="345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100" i="1" spc="-5" dirty="0">
                <a:latin typeface="Times New Roman"/>
                <a:cs typeface="Times New Roman"/>
              </a:rPr>
              <a:t>mode </a:t>
            </a:r>
            <a:r>
              <a:rPr sz="2100" spc="10" dirty="0">
                <a:latin typeface="Times New Roman"/>
                <a:cs typeface="Times New Roman"/>
              </a:rPr>
              <a:t>is </a:t>
            </a:r>
            <a:r>
              <a:rPr sz="2100" spc="-25" dirty="0">
                <a:latin typeface="Times New Roman"/>
                <a:cs typeface="Times New Roman"/>
              </a:rPr>
              <a:t>basically </a:t>
            </a:r>
            <a:r>
              <a:rPr sz="2100" spc="90" dirty="0">
                <a:latin typeface="Times New Roman"/>
                <a:cs typeface="Times New Roman"/>
              </a:rPr>
              <a:t>the </a:t>
            </a:r>
            <a:r>
              <a:rPr sz="2100" spc="20" dirty="0">
                <a:latin typeface="Times New Roman"/>
                <a:cs typeface="Times New Roman"/>
              </a:rPr>
              <a:t>type</a:t>
            </a:r>
            <a:r>
              <a:rPr sz="2100" spc="-370" dirty="0">
                <a:latin typeface="Times New Roman"/>
                <a:cs typeface="Times New Roman"/>
              </a:rPr>
              <a:t> </a:t>
            </a:r>
            <a:r>
              <a:rPr sz="2100" spc="5" dirty="0">
                <a:latin typeface="Times New Roman"/>
                <a:cs typeface="Times New Roman"/>
              </a:rPr>
              <a:t>of primitive </a:t>
            </a:r>
            <a:r>
              <a:rPr sz="2100" spc="-40" dirty="0">
                <a:latin typeface="Times New Roman"/>
                <a:cs typeface="Times New Roman"/>
              </a:rPr>
              <a:t>we’re </a:t>
            </a:r>
            <a:r>
              <a:rPr sz="2100" spc="25" dirty="0">
                <a:latin typeface="Times New Roman"/>
                <a:cs typeface="Times New Roman"/>
              </a:rPr>
              <a:t>drawing</a:t>
            </a:r>
            <a:endParaRPr sz="21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34668" y="4066540"/>
            <a:ext cx="6094731" cy="1878719"/>
          </a:xfrm>
          <a:prstGeom prst="rect">
            <a:avLst/>
          </a:prstGeom>
        </p:spPr>
        <p:txBody>
          <a:bodyPr vert="horz" wrap="square" lIns="0" tIns="95250" rIns="0" bIns="0" rtlCol="0">
            <a:spAutoFit/>
          </a:bodyPr>
          <a:lstStyle/>
          <a:p>
            <a:pPr marL="285750" indent="-273050">
              <a:lnSpc>
                <a:spcPct val="100000"/>
              </a:lnSpc>
              <a:spcBef>
                <a:spcPts val="750"/>
              </a:spcBef>
              <a:buClr>
                <a:srgbClr val="B22B15"/>
              </a:buClr>
              <a:buSzPct val="94230"/>
              <a:buFont typeface="Arial"/>
              <a:buChar char=""/>
              <a:tabLst>
                <a:tab pos="285750" algn="l"/>
              </a:tabLst>
            </a:pPr>
            <a:r>
              <a:rPr sz="2600" spc="5" dirty="0">
                <a:latin typeface="Times New Roman"/>
                <a:cs typeface="Times New Roman"/>
              </a:rPr>
              <a:t>Declare </a:t>
            </a:r>
            <a:r>
              <a:rPr sz="2600" spc="90" dirty="0">
                <a:latin typeface="Times New Roman"/>
                <a:cs typeface="Times New Roman"/>
              </a:rPr>
              <a:t>our</a:t>
            </a:r>
            <a:r>
              <a:rPr sz="2600" spc="-160" dirty="0">
                <a:latin typeface="Times New Roman"/>
                <a:cs typeface="Times New Roman"/>
              </a:rPr>
              <a:t> </a:t>
            </a:r>
            <a:r>
              <a:rPr sz="2600" spc="-35" dirty="0">
                <a:latin typeface="Times New Roman"/>
                <a:cs typeface="Times New Roman"/>
              </a:rPr>
              <a:t>vertices</a:t>
            </a:r>
            <a:endParaRPr sz="2600" dirty="0">
              <a:latin typeface="Times New Roman"/>
              <a:cs typeface="Times New Roman"/>
            </a:endParaRPr>
          </a:p>
          <a:p>
            <a:pPr marL="652780" lvl="1" indent="-246379">
              <a:lnSpc>
                <a:spcPct val="100000"/>
              </a:lnSpc>
              <a:spcBef>
                <a:spcPts val="600"/>
              </a:spcBef>
              <a:buClr>
                <a:srgbClr val="FD8536"/>
              </a:buClr>
              <a:buSzPct val="85416"/>
              <a:buFont typeface="Arial"/>
              <a:buChar char=""/>
              <a:tabLst>
                <a:tab pos="652780" algn="l"/>
                <a:tab pos="1169035" algn="l"/>
                <a:tab pos="3554729" algn="l"/>
              </a:tabLst>
            </a:pPr>
            <a:r>
              <a:rPr sz="2400" spc="10" dirty="0">
                <a:latin typeface="Times New Roman"/>
                <a:cs typeface="Times New Roman"/>
              </a:rPr>
              <a:t>i.e.	</a:t>
            </a:r>
            <a:r>
              <a:rPr sz="2400" spc="25" dirty="0">
                <a:latin typeface="Times New Roman"/>
                <a:cs typeface="Times New Roman"/>
              </a:rPr>
              <a:t>glVertex2f(f</a:t>
            </a:r>
            <a:r>
              <a:rPr lang="en-US" sz="2400" spc="25" dirty="0">
                <a:latin typeface="Times New Roman"/>
                <a:cs typeface="Times New Roman"/>
              </a:rPr>
              <a:t>l</a:t>
            </a:r>
            <a:r>
              <a:rPr sz="2400" spc="25" dirty="0">
                <a:latin typeface="Times New Roman"/>
                <a:cs typeface="Times New Roman"/>
              </a:rPr>
              <a:t>oat</a:t>
            </a:r>
            <a:r>
              <a:rPr sz="2400" spc="15" dirty="0">
                <a:latin typeface="Times New Roman"/>
                <a:cs typeface="Times New Roman"/>
              </a:rPr>
              <a:t> </a:t>
            </a:r>
            <a:r>
              <a:rPr sz="2400" i="1" spc="35" dirty="0">
                <a:latin typeface="Times New Roman"/>
                <a:cs typeface="Times New Roman"/>
              </a:rPr>
              <a:t>x</a:t>
            </a:r>
            <a:r>
              <a:rPr sz="2400" spc="35" dirty="0">
                <a:latin typeface="Times New Roman"/>
                <a:cs typeface="Times New Roman"/>
              </a:rPr>
              <a:t>,	</a:t>
            </a:r>
            <a:r>
              <a:rPr sz="2400" spc="185" dirty="0">
                <a:latin typeface="Times New Roman"/>
                <a:cs typeface="Times New Roman"/>
              </a:rPr>
              <a:t>f</a:t>
            </a:r>
            <a:r>
              <a:rPr lang="en-US" sz="2400" spc="185" dirty="0">
                <a:latin typeface="Times New Roman"/>
                <a:cs typeface="Times New Roman"/>
              </a:rPr>
              <a:t>l</a:t>
            </a:r>
            <a:r>
              <a:rPr sz="2400" spc="185" dirty="0">
                <a:latin typeface="Times New Roman"/>
                <a:cs typeface="Times New Roman"/>
              </a:rPr>
              <a:t>oat</a:t>
            </a:r>
            <a:r>
              <a:rPr sz="2400" spc="-80" dirty="0">
                <a:latin typeface="Times New Roman"/>
                <a:cs typeface="Times New Roman"/>
              </a:rPr>
              <a:t> </a:t>
            </a:r>
            <a:r>
              <a:rPr sz="2400" i="1" spc="-5" dirty="0">
                <a:latin typeface="Times New Roman"/>
                <a:cs typeface="Times New Roman"/>
              </a:rPr>
              <a:t>y</a:t>
            </a:r>
            <a:r>
              <a:rPr sz="2400" spc="-5" dirty="0">
                <a:latin typeface="Times New Roman"/>
                <a:cs typeface="Times New Roman"/>
              </a:rPr>
              <a:t>);</a:t>
            </a:r>
            <a:endParaRPr sz="2400" dirty="0">
              <a:latin typeface="Times New Roman"/>
              <a:cs typeface="Times New Roman"/>
            </a:endParaRPr>
          </a:p>
          <a:p>
            <a:pPr marL="285750" indent="-273050">
              <a:lnSpc>
                <a:spcPct val="100000"/>
              </a:lnSpc>
              <a:spcBef>
                <a:spcPts val="650"/>
              </a:spcBef>
              <a:buClr>
                <a:srgbClr val="B22B15"/>
              </a:buClr>
              <a:buSzPct val="94230"/>
              <a:buFont typeface="Arial"/>
              <a:buChar char=""/>
              <a:tabLst>
                <a:tab pos="285750" algn="l"/>
              </a:tabLst>
            </a:pPr>
            <a:r>
              <a:rPr sz="2600" spc="-5" dirty="0">
                <a:latin typeface="Times New Roman"/>
                <a:cs typeface="Times New Roman"/>
              </a:rPr>
              <a:t>Declare </a:t>
            </a:r>
            <a:r>
              <a:rPr sz="2600" spc="40" dirty="0">
                <a:latin typeface="Times New Roman"/>
                <a:cs typeface="Times New Roman"/>
              </a:rPr>
              <a:t>that </a:t>
            </a:r>
            <a:r>
              <a:rPr sz="2600" dirty="0">
                <a:latin typeface="Times New Roman"/>
                <a:cs typeface="Times New Roman"/>
              </a:rPr>
              <a:t>we </a:t>
            </a:r>
            <a:r>
              <a:rPr sz="2600" spc="30" dirty="0">
                <a:latin typeface="Times New Roman"/>
                <a:cs typeface="Times New Roman"/>
              </a:rPr>
              <a:t>are</a:t>
            </a:r>
            <a:r>
              <a:rPr sz="2600" spc="-420" dirty="0">
                <a:latin typeface="Times New Roman"/>
                <a:cs typeface="Times New Roman"/>
              </a:rPr>
              <a:t> </a:t>
            </a:r>
            <a:r>
              <a:rPr sz="2600" spc="110" dirty="0">
                <a:latin typeface="Times New Roman"/>
                <a:cs typeface="Times New Roman"/>
              </a:rPr>
              <a:t>f</a:t>
            </a:r>
            <a:r>
              <a:rPr lang="en-US" sz="2600" spc="110" dirty="0">
                <a:latin typeface="Times New Roman"/>
                <a:cs typeface="Times New Roman"/>
              </a:rPr>
              <a:t>i</a:t>
            </a:r>
            <a:r>
              <a:rPr sz="2600" spc="110" dirty="0">
                <a:latin typeface="Times New Roman"/>
                <a:cs typeface="Times New Roman"/>
              </a:rPr>
              <a:t>nished</a:t>
            </a:r>
            <a:endParaRPr sz="2600" dirty="0">
              <a:latin typeface="Times New Roman"/>
              <a:cs typeface="Times New Roman"/>
            </a:endParaRPr>
          </a:p>
          <a:p>
            <a:pPr marL="652780" lvl="1" indent="-246379">
              <a:lnSpc>
                <a:spcPct val="100000"/>
              </a:lnSpc>
              <a:spcBef>
                <a:spcPts val="600"/>
              </a:spcBef>
              <a:buClr>
                <a:srgbClr val="FD8536"/>
              </a:buClr>
              <a:buSzPct val="85416"/>
              <a:buFont typeface="Arial"/>
              <a:buChar char=""/>
              <a:tabLst>
                <a:tab pos="652780" algn="l"/>
              </a:tabLst>
            </a:pPr>
            <a:r>
              <a:rPr sz="2400" spc="-5" dirty="0">
                <a:latin typeface="Times New Roman"/>
                <a:cs typeface="Times New Roman"/>
              </a:rPr>
              <a:t>glEnd();</a:t>
            </a:r>
            <a:endParaRPr sz="24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4500" y="1073150"/>
            <a:ext cx="4189729" cy="787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315" dirty="0"/>
              <a:t>Code</a:t>
            </a:r>
            <a:r>
              <a:rPr spc="70" dirty="0"/>
              <a:t> </a:t>
            </a:r>
            <a:r>
              <a:rPr spc="254" dirty="0"/>
              <a:t>Example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4669" y="1901190"/>
            <a:ext cx="5745480" cy="4075429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 marR="2744470">
              <a:lnSpc>
                <a:spcPct val="100800"/>
              </a:lnSpc>
              <a:spcBef>
                <a:spcPts val="75"/>
              </a:spcBef>
            </a:pPr>
            <a:r>
              <a:rPr sz="2200" b="1" spc="40" dirty="0">
                <a:latin typeface="Times New Roman"/>
                <a:cs typeface="Times New Roman"/>
              </a:rPr>
              <a:t>/ </a:t>
            </a:r>
            <a:r>
              <a:rPr sz="2200" spc="35" dirty="0">
                <a:latin typeface="Times New Roman"/>
                <a:cs typeface="Times New Roman"/>
              </a:rPr>
              <a:t>Sample</a:t>
            </a:r>
            <a:r>
              <a:rPr sz="2200" spc="-40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drawing </a:t>
            </a:r>
            <a:r>
              <a:rPr sz="2200" spc="10" dirty="0">
                <a:latin typeface="Times New Roman"/>
                <a:cs typeface="Times New Roman"/>
              </a:rPr>
              <a:t>function  </a:t>
            </a:r>
            <a:r>
              <a:rPr sz="2200" spc="35" dirty="0">
                <a:latin typeface="Times New Roman"/>
                <a:cs typeface="Times New Roman"/>
              </a:rPr>
              <a:t>void</a:t>
            </a:r>
            <a:r>
              <a:rPr sz="2200" spc="-5" dirty="0">
                <a:latin typeface="Times New Roman"/>
                <a:cs typeface="Times New Roman"/>
              </a:rPr>
              <a:t> </a:t>
            </a:r>
            <a:r>
              <a:rPr sz="2200" spc="-15" dirty="0">
                <a:latin typeface="Times New Roman"/>
                <a:cs typeface="Times New Roman"/>
              </a:rPr>
              <a:t>display_callback(){</a:t>
            </a:r>
            <a:endParaRPr sz="2200">
              <a:latin typeface="Times New Roman"/>
              <a:cs typeface="Times New Roman"/>
            </a:endParaRPr>
          </a:p>
          <a:p>
            <a:pPr marL="285115">
              <a:lnSpc>
                <a:spcPct val="100000"/>
              </a:lnSpc>
              <a:spcBef>
                <a:spcPts val="20"/>
              </a:spcBef>
            </a:pPr>
            <a:r>
              <a:rPr sz="2200" b="1" spc="60" dirty="0">
                <a:latin typeface="Times New Roman"/>
                <a:cs typeface="Times New Roman"/>
              </a:rPr>
              <a:t>.</a:t>
            </a:r>
            <a:r>
              <a:rPr sz="2200" b="1" spc="-150" dirty="0">
                <a:latin typeface="Times New Roman"/>
                <a:cs typeface="Times New Roman"/>
              </a:rPr>
              <a:t> </a:t>
            </a:r>
            <a:r>
              <a:rPr sz="2200" spc="60" dirty="0">
                <a:latin typeface="Times New Roman"/>
                <a:cs typeface="Times New Roman"/>
              </a:rPr>
              <a:t>.</a:t>
            </a:r>
            <a:endParaRPr sz="2200">
              <a:latin typeface="Times New Roman"/>
              <a:cs typeface="Times New Roman"/>
            </a:endParaRPr>
          </a:p>
          <a:p>
            <a:pPr marL="285115">
              <a:lnSpc>
                <a:spcPct val="100000"/>
              </a:lnSpc>
              <a:spcBef>
                <a:spcPts val="20"/>
              </a:spcBef>
            </a:pPr>
            <a:r>
              <a:rPr sz="2200" spc="-5" dirty="0">
                <a:latin typeface="Times New Roman"/>
                <a:cs typeface="Times New Roman"/>
              </a:rPr>
              <a:t>glBegin(GL_QUADS);</a:t>
            </a:r>
            <a:endParaRPr sz="2200">
              <a:latin typeface="Times New Roman"/>
              <a:cs typeface="Times New Roman"/>
            </a:endParaRPr>
          </a:p>
          <a:p>
            <a:pPr marL="927100" marR="5080">
              <a:lnSpc>
                <a:spcPts val="2660"/>
              </a:lnSpc>
              <a:spcBef>
                <a:spcPts val="85"/>
              </a:spcBef>
            </a:pPr>
            <a:r>
              <a:rPr sz="2200" spc="-15" dirty="0">
                <a:latin typeface="Times New Roman"/>
                <a:cs typeface="Times New Roman"/>
              </a:rPr>
              <a:t>glColor3f(0.0,</a:t>
            </a:r>
            <a:r>
              <a:rPr sz="2200" spc="-145" dirty="0">
                <a:latin typeface="Times New Roman"/>
                <a:cs typeface="Times New Roman"/>
              </a:rPr>
              <a:t> </a:t>
            </a:r>
            <a:r>
              <a:rPr sz="2200" spc="-5" dirty="0">
                <a:latin typeface="Times New Roman"/>
                <a:cs typeface="Times New Roman"/>
              </a:rPr>
              <a:t>0.0,</a:t>
            </a:r>
            <a:r>
              <a:rPr sz="2200" spc="-140" dirty="0">
                <a:latin typeface="Times New Roman"/>
                <a:cs typeface="Times New Roman"/>
              </a:rPr>
              <a:t> </a:t>
            </a:r>
            <a:r>
              <a:rPr sz="2200" spc="-55" dirty="0">
                <a:latin typeface="Times New Roman"/>
                <a:cs typeface="Times New Roman"/>
              </a:rPr>
              <a:t>1.0);</a:t>
            </a:r>
            <a:r>
              <a:rPr sz="2200" spc="-140" dirty="0">
                <a:latin typeface="Times New Roman"/>
                <a:cs typeface="Times New Roman"/>
              </a:rPr>
              <a:t> </a:t>
            </a:r>
            <a:r>
              <a:rPr sz="2200" spc="15" dirty="0">
                <a:latin typeface="Times New Roman"/>
                <a:cs typeface="Times New Roman"/>
              </a:rPr>
              <a:t>//sets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spc="45" dirty="0">
                <a:latin typeface="Times New Roman"/>
                <a:cs typeface="Times New Roman"/>
              </a:rPr>
              <a:t>color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spc="80" dirty="0">
                <a:latin typeface="Times New Roman"/>
                <a:cs typeface="Times New Roman"/>
              </a:rPr>
              <a:t>to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spc="85" dirty="0">
                <a:latin typeface="Times New Roman"/>
                <a:cs typeface="Times New Roman"/>
              </a:rPr>
              <a:t>blue  </a:t>
            </a:r>
            <a:r>
              <a:rPr sz="2200" spc="-5" dirty="0">
                <a:latin typeface="Times New Roman"/>
                <a:cs typeface="Times New Roman"/>
              </a:rPr>
              <a:t>glVertex2f(0.0,</a:t>
            </a:r>
            <a:r>
              <a:rPr sz="2200" spc="-100" dirty="0">
                <a:latin typeface="Times New Roman"/>
                <a:cs typeface="Times New Roman"/>
              </a:rPr>
              <a:t> </a:t>
            </a:r>
            <a:r>
              <a:rPr sz="2200" spc="-25" dirty="0">
                <a:latin typeface="Times New Roman"/>
                <a:cs typeface="Times New Roman"/>
              </a:rPr>
              <a:t>0.0);</a:t>
            </a:r>
            <a:endParaRPr sz="2200">
              <a:latin typeface="Times New Roman"/>
              <a:cs typeface="Times New Roman"/>
            </a:endParaRPr>
          </a:p>
          <a:p>
            <a:pPr marL="927100">
              <a:lnSpc>
                <a:spcPts val="2570"/>
              </a:lnSpc>
            </a:pPr>
            <a:r>
              <a:rPr sz="2200" spc="-5" dirty="0">
                <a:latin typeface="Times New Roman"/>
                <a:cs typeface="Times New Roman"/>
              </a:rPr>
              <a:t>glVertex2f(0.0,</a:t>
            </a:r>
            <a:r>
              <a:rPr sz="2200" spc="-160" dirty="0">
                <a:latin typeface="Times New Roman"/>
                <a:cs typeface="Times New Roman"/>
              </a:rPr>
              <a:t> </a:t>
            </a:r>
            <a:r>
              <a:rPr sz="2200" spc="-25" dirty="0">
                <a:latin typeface="Times New Roman"/>
                <a:cs typeface="Times New Roman"/>
              </a:rPr>
              <a:t>1.0);</a:t>
            </a:r>
            <a:endParaRPr sz="2200">
              <a:latin typeface="Times New Roman"/>
              <a:cs typeface="Times New Roman"/>
            </a:endParaRPr>
          </a:p>
          <a:p>
            <a:pPr marL="927100">
              <a:lnSpc>
                <a:spcPct val="100000"/>
              </a:lnSpc>
              <a:spcBef>
                <a:spcPts val="20"/>
              </a:spcBef>
            </a:pPr>
            <a:r>
              <a:rPr sz="2200" spc="-5" dirty="0">
                <a:latin typeface="Times New Roman"/>
                <a:cs typeface="Times New Roman"/>
              </a:rPr>
              <a:t>glVertex2f(1.0,</a:t>
            </a:r>
            <a:r>
              <a:rPr sz="2200" spc="-160" dirty="0">
                <a:latin typeface="Times New Roman"/>
                <a:cs typeface="Times New Roman"/>
              </a:rPr>
              <a:t> </a:t>
            </a:r>
            <a:r>
              <a:rPr sz="2200" spc="-25" dirty="0">
                <a:latin typeface="Times New Roman"/>
                <a:cs typeface="Times New Roman"/>
              </a:rPr>
              <a:t>1.0);</a:t>
            </a:r>
            <a:endParaRPr sz="2200">
              <a:latin typeface="Times New Roman"/>
              <a:cs typeface="Times New Roman"/>
            </a:endParaRPr>
          </a:p>
          <a:p>
            <a:pPr marL="285115" marR="2524125" indent="641350">
              <a:lnSpc>
                <a:spcPts val="2660"/>
              </a:lnSpc>
              <a:spcBef>
                <a:spcPts val="90"/>
              </a:spcBef>
            </a:pPr>
            <a:r>
              <a:rPr sz="2200" spc="-5" dirty="0">
                <a:latin typeface="Times New Roman"/>
                <a:cs typeface="Times New Roman"/>
              </a:rPr>
              <a:t>glVertex2f(1.0,</a:t>
            </a:r>
            <a:r>
              <a:rPr sz="2200" spc="-150" dirty="0">
                <a:latin typeface="Times New Roman"/>
                <a:cs typeface="Times New Roman"/>
              </a:rPr>
              <a:t> </a:t>
            </a:r>
            <a:r>
              <a:rPr sz="2200" spc="-25" dirty="0">
                <a:latin typeface="Times New Roman"/>
                <a:cs typeface="Times New Roman"/>
              </a:rPr>
              <a:t>0.0);  </a:t>
            </a:r>
            <a:r>
              <a:rPr sz="2200" spc="-5" dirty="0">
                <a:latin typeface="Times New Roman"/>
                <a:cs typeface="Times New Roman"/>
              </a:rPr>
              <a:t>glEnd();</a:t>
            </a:r>
            <a:endParaRPr sz="2200">
              <a:latin typeface="Times New Roman"/>
              <a:cs typeface="Times New Roman"/>
            </a:endParaRPr>
          </a:p>
          <a:p>
            <a:pPr marL="285115">
              <a:lnSpc>
                <a:spcPts val="2570"/>
              </a:lnSpc>
            </a:pPr>
            <a:r>
              <a:rPr sz="2200" b="1" spc="60" dirty="0">
                <a:latin typeface="Times New Roman"/>
                <a:cs typeface="Times New Roman"/>
              </a:rPr>
              <a:t>.</a:t>
            </a:r>
            <a:r>
              <a:rPr sz="2200" b="1" spc="-150" dirty="0">
                <a:latin typeface="Times New Roman"/>
                <a:cs typeface="Times New Roman"/>
              </a:rPr>
              <a:t> </a:t>
            </a:r>
            <a:r>
              <a:rPr sz="2200" spc="60" dirty="0">
                <a:latin typeface="Times New Roman"/>
                <a:cs typeface="Times New Roman"/>
              </a:rPr>
              <a:t>.</a:t>
            </a:r>
            <a:endParaRPr sz="2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z="2200" spc="-325" dirty="0">
                <a:latin typeface="Times New Roman"/>
                <a:cs typeface="Times New Roman"/>
              </a:rPr>
              <a:t>}</a:t>
            </a:r>
            <a:endParaRPr sz="2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4500" y="1073150"/>
            <a:ext cx="5355590" cy="787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60" dirty="0"/>
              <a:t>Types </a:t>
            </a:r>
            <a:r>
              <a:rPr spc="120" dirty="0"/>
              <a:t>of</a:t>
            </a:r>
            <a:r>
              <a:rPr spc="80" dirty="0"/>
              <a:t> </a:t>
            </a:r>
            <a:r>
              <a:rPr spc="175" dirty="0"/>
              <a:t>Primitives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4669" y="1907540"/>
            <a:ext cx="165290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85115" algn="l"/>
              </a:tabLst>
            </a:pPr>
            <a:r>
              <a:rPr sz="2850" spc="-750" baseline="5847" dirty="0">
                <a:solidFill>
                  <a:srgbClr val="B22B15"/>
                </a:solidFill>
                <a:latin typeface="Arial"/>
                <a:cs typeface="Arial"/>
              </a:rPr>
              <a:t>	</a:t>
            </a:r>
            <a:r>
              <a:rPr sz="2000" spc="-5" dirty="0">
                <a:latin typeface="Times New Roman"/>
                <a:cs typeface="Times New Roman"/>
              </a:rPr>
              <a:t>GL_POINTS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28369" y="2218689"/>
            <a:ext cx="139065" cy="27114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600" spc="-415" dirty="0">
                <a:solidFill>
                  <a:srgbClr val="FD8536"/>
                </a:solidFill>
                <a:latin typeface="Arial"/>
                <a:cs typeface="Arial"/>
              </a:rPr>
              <a:t></a:t>
            </a:r>
            <a:endParaRPr sz="16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174750" y="2213609"/>
            <a:ext cx="5284470" cy="314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460240" algn="l"/>
              </a:tabLst>
            </a:pPr>
            <a:r>
              <a:rPr sz="1900" spc="-15" dirty="0">
                <a:latin typeface="Times New Roman"/>
                <a:cs typeface="Times New Roman"/>
              </a:rPr>
              <a:t>Simply</a:t>
            </a:r>
            <a:r>
              <a:rPr sz="1900" spc="-75" dirty="0">
                <a:latin typeface="Times New Roman"/>
                <a:cs typeface="Times New Roman"/>
              </a:rPr>
              <a:t> </a:t>
            </a:r>
            <a:r>
              <a:rPr sz="1900" spc="-15" dirty="0">
                <a:latin typeface="Times New Roman"/>
                <a:cs typeface="Times New Roman"/>
              </a:rPr>
              <a:t>draws</a:t>
            </a:r>
            <a:r>
              <a:rPr sz="1900" spc="-65" dirty="0">
                <a:latin typeface="Times New Roman"/>
                <a:cs typeface="Times New Roman"/>
              </a:rPr>
              <a:t> </a:t>
            </a:r>
            <a:r>
              <a:rPr sz="1900" spc="50" dirty="0">
                <a:latin typeface="Times New Roman"/>
                <a:cs typeface="Times New Roman"/>
              </a:rPr>
              <a:t>the</a:t>
            </a:r>
            <a:r>
              <a:rPr sz="1900" spc="-70" dirty="0">
                <a:latin typeface="Times New Roman"/>
                <a:cs typeface="Times New Roman"/>
              </a:rPr>
              <a:t> </a:t>
            </a:r>
            <a:r>
              <a:rPr sz="1900" spc="5" dirty="0">
                <a:latin typeface="Times New Roman"/>
                <a:cs typeface="Times New Roman"/>
              </a:rPr>
              <a:t>points</a:t>
            </a:r>
            <a:r>
              <a:rPr sz="1900" spc="-65" dirty="0">
                <a:latin typeface="Times New Roman"/>
                <a:cs typeface="Times New Roman"/>
              </a:rPr>
              <a:t> </a:t>
            </a:r>
            <a:r>
              <a:rPr sz="1900" spc="55" dirty="0">
                <a:latin typeface="Times New Roman"/>
                <a:cs typeface="Times New Roman"/>
              </a:rPr>
              <a:t>in</a:t>
            </a:r>
            <a:r>
              <a:rPr sz="1900" spc="-65" dirty="0">
                <a:latin typeface="Times New Roman"/>
                <a:cs typeface="Times New Roman"/>
              </a:rPr>
              <a:t> </a:t>
            </a:r>
            <a:r>
              <a:rPr sz="1900" spc="50" dirty="0">
                <a:latin typeface="Times New Roman"/>
                <a:cs typeface="Times New Roman"/>
              </a:rPr>
              <a:t>the</a:t>
            </a:r>
            <a:r>
              <a:rPr sz="1900" spc="-70" dirty="0">
                <a:latin typeface="Times New Roman"/>
                <a:cs typeface="Times New Roman"/>
              </a:rPr>
              <a:t> </a:t>
            </a:r>
            <a:r>
              <a:rPr sz="1900" spc="25" dirty="0">
                <a:latin typeface="Times New Roman"/>
                <a:cs typeface="Times New Roman"/>
              </a:rPr>
              <a:t>order</a:t>
            </a:r>
            <a:r>
              <a:rPr sz="1900" spc="-70" dirty="0">
                <a:latin typeface="Times New Roman"/>
                <a:cs typeface="Times New Roman"/>
              </a:rPr>
              <a:t> </a:t>
            </a:r>
            <a:r>
              <a:rPr sz="1900" spc="-15" dirty="0">
                <a:latin typeface="Times New Roman"/>
                <a:cs typeface="Times New Roman"/>
              </a:rPr>
              <a:t>you</a:t>
            </a:r>
            <a:r>
              <a:rPr sz="1900" spc="-65" dirty="0">
                <a:latin typeface="Times New Roman"/>
                <a:cs typeface="Times New Roman"/>
              </a:rPr>
              <a:t> </a:t>
            </a:r>
            <a:r>
              <a:rPr sz="1900" spc="15" dirty="0">
                <a:latin typeface="Times New Roman"/>
                <a:cs typeface="Times New Roman"/>
              </a:rPr>
              <a:t>pa</a:t>
            </a:r>
            <a:r>
              <a:rPr sz="1900" b="1" spc="15" dirty="0">
                <a:latin typeface="Times New Roman"/>
                <a:cs typeface="Times New Roman"/>
              </a:rPr>
              <a:t>s	</a:t>
            </a:r>
            <a:r>
              <a:rPr sz="1900" spc="45" dirty="0">
                <a:latin typeface="Times New Roman"/>
                <a:cs typeface="Times New Roman"/>
              </a:rPr>
              <a:t>them</a:t>
            </a:r>
            <a:r>
              <a:rPr sz="1900" spc="-135" dirty="0">
                <a:latin typeface="Times New Roman"/>
                <a:cs typeface="Times New Roman"/>
              </a:rPr>
              <a:t> </a:t>
            </a:r>
            <a:r>
              <a:rPr sz="1900" spc="5" dirty="0">
                <a:latin typeface="Times New Roman"/>
                <a:cs typeface="Times New Roman"/>
              </a:rPr>
              <a:t>in.</a:t>
            </a:r>
            <a:endParaRPr sz="19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34669" y="2505709"/>
            <a:ext cx="148272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85115" algn="l"/>
              </a:tabLst>
            </a:pPr>
            <a:r>
              <a:rPr sz="2850" spc="-750" baseline="5847" dirty="0">
                <a:solidFill>
                  <a:srgbClr val="B22B15"/>
                </a:solidFill>
                <a:latin typeface="Arial"/>
                <a:cs typeface="Arial"/>
              </a:rPr>
              <a:t>	</a:t>
            </a:r>
            <a:r>
              <a:rPr sz="2000" dirty="0">
                <a:latin typeface="Times New Roman"/>
                <a:cs typeface="Times New Roman"/>
              </a:rPr>
              <a:t>G</a:t>
            </a:r>
            <a:r>
              <a:rPr sz="2000" spc="5" dirty="0">
                <a:latin typeface="Times New Roman"/>
                <a:cs typeface="Times New Roman"/>
              </a:rPr>
              <a:t>L</a:t>
            </a:r>
            <a:r>
              <a:rPr sz="2000" spc="-140" dirty="0">
                <a:latin typeface="Times New Roman"/>
                <a:cs typeface="Times New Roman"/>
              </a:rPr>
              <a:t>_</a:t>
            </a:r>
            <a:r>
              <a:rPr sz="2000" spc="5" dirty="0">
                <a:latin typeface="Times New Roman"/>
                <a:cs typeface="Times New Roman"/>
              </a:rPr>
              <a:t>L</a:t>
            </a:r>
            <a:r>
              <a:rPr sz="2000" spc="-30" dirty="0">
                <a:latin typeface="Times New Roman"/>
                <a:cs typeface="Times New Roman"/>
              </a:rPr>
              <a:t>I</a:t>
            </a:r>
            <a:r>
              <a:rPr sz="2000" spc="-140" dirty="0">
                <a:latin typeface="Times New Roman"/>
                <a:cs typeface="Times New Roman"/>
              </a:rPr>
              <a:t>N</a:t>
            </a:r>
            <a:r>
              <a:rPr sz="2000" spc="45" dirty="0">
                <a:latin typeface="Times New Roman"/>
                <a:cs typeface="Times New Roman"/>
              </a:rPr>
              <a:t>E</a:t>
            </a:r>
            <a:r>
              <a:rPr sz="2000" spc="220" dirty="0">
                <a:latin typeface="Times New Roman"/>
                <a:cs typeface="Times New Roman"/>
              </a:rPr>
              <a:t>S</a:t>
            </a:r>
            <a:endParaRPr sz="2000" dirty="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28369" y="2816859"/>
            <a:ext cx="139065" cy="27114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600" spc="-415" dirty="0">
                <a:solidFill>
                  <a:srgbClr val="FD8536"/>
                </a:solidFill>
                <a:latin typeface="Arial"/>
                <a:cs typeface="Arial"/>
              </a:rPr>
              <a:t></a:t>
            </a:r>
            <a:endParaRPr sz="16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174750" y="2813050"/>
            <a:ext cx="5154295" cy="314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00" spc="-55" dirty="0">
                <a:latin typeface="Times New Roman"/>
                <a:cs typeface="Times New Roman"/>
              </a:rPr>
              <a:t>Takes</a:t>
            </a:r>
            <a:r>
              <a:rPr sz="1900" spc="-60" dirty="0">
                <a:latin typeface="Times New Roman"/>
                <a:cs typeface="Times New Roman"/>
              </a:rPr>
              <a:t> </a:t>
            </a:r>
            <a:r>
              <a:rPr sz="1900" spc="5" dirty="0">
                <a:latin typeface="Times New Roman"/>
                <a:cs typeface="Times New Roman"/>
              </a:rPr>
              <a:t>pairs</a:t>
            </a:r>
            <a:r>
              <a:rPr sz="1900" spc="-60" dirty="0">
                <a:latin typeface="Times New Roman"/>
                <a:cs typeface="Times New Roman"/>
              </a:rPr>
              <a:t> </a:t>
            </a:r>
            <a:r>
              <a:rPr sz="1900" spc="-5" dirty="0">
                <a:latin typeface="Times New Roman"/>
                <a:cs typeface="Times New Roman"/>
              </a:rPr>
              <a:t>of</a:t>
            </a:r>
            <a:r>
              <a:rPr sz="1900" spc="-55" dirty="0">
                <a:latin typeface="Times New Roman"/>
                <a:cs typeface="Times New Roman"/>
              </a:rPr>
              <a:t> </a:t>
            </a:r>
            <a:r>
              <a:rPr sz="1900" spc="-30" dirty="0">
                <a:latin typeface="Times New Roman"/>
                <a:cs typeface="Times New Roman"/>
              </a:rPr>
              <a:t>vertices</a:t>
            </a:r>
            <a:r>
              <a:rPr sz="1900" spc="-60" dirty="0">
                <a:latin typeface="Times New Roman"/>
                <a:cs typeface="Times New Roman"/>
              </a:rPr>
              <a:t> </a:t>
            </a:r>
            <a:r>
              <a:rPr sz="1900" spc="75" dirty="0">
                <a:latin typeface="Times New Roman"/>
                <a:cs typeface="Times New Roman"/>
              </a:rPr>
              <a:t>and</a:t>
            </a:r>
            <a:r>
              <a:rPr sz="1900" spc="-5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draws</a:t>
            </a:r>
            <a:r>
              <a:rPr sz="1900" spc="-60" dirty="0">
                <a:latin typeface="Times New Roman"/>
                <a:cs typeface="Times New Roman"/>
              </a:rPr>
              <a:t> </a:t>
            </a:r>
            <a:r>
              <a:rPr sz="1900" spc="-5" dirty="0">
                <a:latin typeface="Times New Roman"/>
                <a:cs typeface="Times New Roman"/>
              </a:rPr>
              <a:t>lines</a:t>
            </a:r>
            <a:r>
              <a:rPr sz="1900" spc="-60" dirty="0">
                <a:latin typeface="Times New Roman"/>
                <a:cs typeface="Times New Roman"/>
              </a:rPr>
              <a:t> </a:t>
            </a:r>
            <a:r>
              <a:rPr sz="1900" spc="20" dirty="0">
                <a:latin typeface="Times New Roman"/>
                <a:cs typeface="Times New Roman"/>
              </a:rPr>
              <a:t>between</a:t>
            </a:r>
            <a:r>
              <a:rPr sz="1900" spc="-55" dirty="0">
                <a:latin typeface="Times New Roman"/>
                <a:cs typeface="Times New Roman"/>
              </a:rPr>
              <a:t> </a:t>
            </a:r>
            <a:r>
              <a:rPr sz="1900" spc="60" dirty="0">
                <a:latin typeface="Times New Roman"/>
                <a:cs typeface="Times New Roman"/>
              </a:rPr>
              <a:t>them</a:t>
            </a:r>
            <a:endParaRPr sz="19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34669" y="3105150"/>
            <a:ext cx="216027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85115" algn="l"/>
              </a:tabLst>
            </a:pPr>
            <a:r>
              <a:rPr sz="2850" spc="-750" baseline="5847" dirty="0">
                <a:solidFill>
                  <a:srgbClr val="B22B15"/>
                </a:solidFill>
                <a:latin typeface="Arial"/>
                <a:cs typeface="Arial"/>
              </a:rPr>
              <a:t>	</a:t>
            </a:r>
            <a:r>
              <a:rPr sz="2000" spc="-5" dirty="0">
                <a:latin typeface="Times New Roman"/>
                <a:cs typeface="Times New Roman"/>
              </a:rPr>
              <a:t>GL_LINE_STRIP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928369" y="3416300"/>
            <a:ext cx="139065" cy="27114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600" spc="-415" dirty="0">
                <a:solidFill>
                  <a:srgbClr val="FD8536"/>
                </a:solidFill>
                <a:latin typeface="Arial"/>
                <a:cs typeface="Arial"/>
              </a:rPr>
              <a:t></a:t>
            </a:r>
            <a:endParaRPr sz="16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174750" y="3411220"/>
            <a:ext cx="7366634" cy="314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00" spc="-55" dirty="0">
                <a:latin typeface="Times New Roman"/>
                <a:cs typeface="Times New Roman"/>
              </a:rPr>
              <a:t>Takes</a:t>
            </a:r>
            <a:r>
              <a:rPr sz="1900" spc="-65" dirty="0">
                <a:latin typeface="Times New Roman"/>
                <a:cs typeface="Times New Roman"/>
              </a:rPr>
              <a:t> </a:t>
            </a:r>
            <a:r>
              <a:rPr sz="1900" spc="-5" dirty="0">
                <a:latin typeface="Times New Roman"/>
                <a:cs typeface="Times New Roman"/>
              </a:rPr>
              <a:t>any</a:t>
            </a:r>
            <a:r>
              <a:rPr sz="1900" spc="-70" dirty="0">
                <a:latin typeface="Times New Roman"/>
                <a:cs typeface="Times New Roman"/>
              </a:rPr>
              <a:t> </a:t>
            </a:r>
            <a:r>
              <a:rPr sz="1900" spc="65" dirty="0">
                <a:latin typeface="Times New Roman"/>
                <a:cs typeface="Times New Roman"/>
              </a:rPr>
              <a:t>number</a:t>
            </a:r>
            <a:r>
              <a:rPr sz="1900" spc="-65" dirty="0">
                <a:latin typeface="Times New Roman"/>
                <a:cs typeface="Times New Roman"/>
              </a:rPr>
              <a:t> </a:t>
            </a:r>
            <a:r>
              <a:rPr sz="1900" spc="-10" dirty="0">
                <a:latin typeface="Times New Roman"/>
                <a:cs typeface="Times New Roman"/>
              </a:rPr>
              <a:t>of</a:t>
            </a:r>
            <a:r>
              <a:rPr sz="1900" spc="-70" dirty="0">
                <a:latin typeface="Times New Roman"/>
                <a:cs typeface="Times New Roman"/>
              </a:rPr>
              <a:t> </a:t>
            </a:r>
            <a:r>
              <a:rPr sz="1900" spc="-30" dirty="0">
                <a:latin typeface="Times New Roman"/>
                <a:cs typeface="Times New Roman"/>
              </a:rPr>
              <a:t>vertices</a:t>
            </a:r>
            <a:r>
              <a:rPr sz="1900" spc="-60" dirty="0">
                <a:latin typeface="Times New Roman"/>
                <a:cs typeface="Times New Roman"/>
              </a:rPr>
              <a:t> </a:t>
            </a:r>
            <a:r>
              <a:rPr sz="1900" spc="75" dirty="0">
                <a:latin typeface="Times New Roman"/>
                <a:cs typeface="Times New Roman"/>
              </a:rPr>
              <a:t>and</a:t>
            </a:r>
            <a:r>
              <a:rPr sz="1900" spc="-6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draws</a:t>
            </a:r>
            <a:r>
              <a:rPr sz="1900" spc="-60" dirty="0">
                <a:latin typeface="Times New Roman"/>
                <a:cs typeface="Times New Roman"/>
              </a:rPr>
              <a:t> </a:t>
            </a:r>
            <a:r>
              <a:rPr sz="1900" spc="70" dirty="0">
                <a:latin typeface="Times New Roman"/>
                <a:cs typeface="Times New Roman"/>
              </a:rPr>
              <a:t>a</a:t>
            </a:r>
            <a:r>
              <a:rPr sz="1900" spc="-70" dirty="0">
                <a:latin typeface="Times New Roman"/>
                <a:cs typeface="Times New Roman"/>
              </a:rPr>
              <a:t> </a:t>
            </a:r>
            <a:r>
              <a:rPr sz="1900" spc="-10" dirty="0">
                <a:latin typeface="Times New Roman"/>
                <a:cs typeface="Times New Roman"/>
              </a:rPr>
              <a:t>series</a:t>
            </a:r>
            <a:r>
              <a:rPr sz="1900" spc="-60" dirty="0">
                <a:latin typeface="Times New Roman"/>
                <a:cs typeface="Times New Roman"/>
              </a:rPr>
              <a:t> </a:t>
            </a:r>
            <a:r>
              <a:rPr sz="1900" spc="-10" dirty="0">
                <a:latin typeface="Times New Roman"/>
                <a:cs typeface="Times New Roman"/>
              </a:rPr>
              <a:t>of</a:t>
            </a:r>
            <a:r>
              <a:rPr sz="1900" spc="-70" dirty="0">
                <a:latin typeface="Times New Roman"/>
                <a:cs typeface="Times New Roman"/>
              </a:rPr>
              <a:t> </a:t>
            </a:r>
            <a:r>
              <a:rPr sz="1900" spc="25" dirty="0">
                <a:latin typeface="Times New Roman"/>
                <a:cs typeface="Times New Roman"/>
              </a:rPr>
              <a:t>connected</a:t>
            </a:r>
            <a:r>
              <a:rPr sz="1900" spc="-60" dirty="0">
                <a:latin typeface="Times New Roman"/>
                <a:cs typeface="Times New Roman"/>
              </a:rPr>
              <a:t> </a:t>
            </a:r>
            <a:r>
              <a:rPr sz="1900" spc="10" dirty="0">
                <a:latin typeface="Times New Roman"/>
                <a:cs typeface="Times New Roman"/>
              </a:rPr>
              <a:t>line</a:t>
            </a:r>
            <a:r>
              <a:rPr sz="1900" spc="-65" dirty="0">
                <a:latin typeface="Times New Roman"/>
                <a:cs typeface="Times New Roman"/>
              </a:rPr>
              <a:t> </a:t>
            </a:r>
            <a:r>
              <a:rPr sz="1900" spc="5" dirty="0">
                <a:latin typeface="Times New Roman"/>
                <a:cs typeface="Times New Roman"/>
              </a:rPr>
              <a:t>segments</a:t>
            </a:r>
            <a:endParaRPr sz="19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34669" y="3703320"/>
            <a:ext cx="213360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85115" algn="l"/>
              </a:tabLst>
            </a:pPr>
            <a:r>
              <a:rPr sz="2850" spc="-750" baseline="5847" dirty="0">
                <a:solidFill>
                  <a:srgbClr val="B22B15"/>
                </a:solidFill>
                <a:latin typeface="Arial"/>
                <a:cs typeface="Arial"/>
              </a:rPr>
              <a:t>	</a:t>
            </a:r>
            <a:r>
              <a:rPr sz="2000" spc="-5" dirty="0">
                <a:latin typeface="Times New Roman"/>
                <a:cs typeface="Times New Roman"/>
              </a:rPr>
              <a:t>GL_LINE_LOOP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928369" y="4014470"/>
            <a:ext cx="139065" cy="27114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600" spc="-415" dirty="0">
                <a:solidFill>
                  <a:srgbClr val="FD8536"/>
                </a:solidFill>
                <a:latin typeface="Arial"/>
                <a:cs typeface="Arial"/>
              </a:rPr>
              <a:t></a:t>
            </a:r>
            <a:endParaRPr sz="16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174750" y="4010659"/>
            <a:ext cx="7371080" cy="314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00" spc="60" dirty="0">
                <a:latin typeface="Times New Roman"/>
                <a:cs typeface="Times New Roman"/>
              </a:rPr>
              <a:t>Same</a:t>
            </a:r>
            <a:r>
              <a:rPr sz="1900" spc="-55" dirty="0">
                <a:latin typeface="Times New Roman"/>
                <a:cs typeface="Times New Roman"/>
              </a:rPr>
              <a:t> </a:t>
            </a:r>
            <a:r>
              <a:rPr sz="1900" spc="15" dirty="0">
                <a:latin typeface="Times New Roman"/>
                <a:cs typeface="Times New Roman"/>
              </a:rPr>
              <a:t>as</a:t>
            </a:r>
            <a:r>
              <a:rPr sz="1900" spc="-50" dirty="0">
                <a:latin typeface="Times New Roman"/>
                <a:cs typeface="Times New Roman"/>
              </a:rPr>
              <a:t> </a:t>
            </a:r>
            <a:r>
              <a:rPr sz="1900" spc="-30" dirty="0">
                <a:latin typeface="Times New Roman"/>
                <a:cs typeface="Times New Roman"/>
              </a:rPr>
              <a:t>GL_LINE_STRIP,</a:t>
            </a:r>
            <a:r>
              <a:rPr sz="1900" spc="-155" dirty="0">
                <a:latin typeface="Times New Roman"/>
                <a:cs typeface="Times New Roman"/>
              </a:rPr>
              <a:t> </a:t>
            </a:r>
            <a:r>
              <a:rPr sz="1900" spc="-10" dirty="0">
                <a:latin typeface="Times New Roman"/>
                <a:cs typeface="Times New Roman"/>
              </a:rPr>
              <a:t>except</a:t>
            </a:r>
            <a:r>
              <a:rPr sz="1900" spc="-55" dirty="0">
                <a:latin typeface="Times New Roman"/>
                <a:cs typeface="Times New Roman"/>
              </a:rPr>
              <a:t> </a:t>
            </a:r>
            <a:r>
              <a:rPr sz="1900" spc="40" dirty="0">
                <a:latin typeface="Times New Roman"/>
                <a:cs typeface="Times New Roman"/>
              </a:rPr>
              <a:t>that</a:t>
            </a:r>
            <a:r>
              <a:rPr sz="1900" spc="-50" dirty="0">
                <a:latin typeface="Times New Roman"/>
                <a:cs typeface="Times New Roman"/>
              </a:rPr>
              <a:t> </a:t>
            </a:r>
            <a:r>
              <a:rPr sz="1900" spc="15" dirty="0">
                <a:latin typeface="Times New Roman"/>
                <a:cs typeface="Times New Roman"/>
              </a:rPr>
              <a:t>it</a:t>
            </a:r>
            <a:r>
              <a:rPr sz="1900" spc="-50" dirty="0">
                <a:latin typeface="Times New Roman"/>
                <a:cs typeface="Times New Roman"/>
              </a:rPr>
              <a:t> </a:t>
            </a:r>
            <a:r>
              <a:rPr sz="1900" spc="20" dirty="0">
                <a:latin typeface="Times New Roman"/>
                <a:cs typeface="Times New Roman"/>
              </a:rPr>
              <a:t>connects</a:t>
            </a:r>
            <a:r>
              <a:rPr sz="1900" spc="-50" dirty="0">
                <a:latin typeface="Times New Roman"/>
                <a:cs typeface="Times New Roman"/>
              </a:rPr>
              <a:t> </a:t>
            </a:r>
            <a:r>
              <a:rPr sz="1900" spc="65" dirty="0">
                <a:latin typeface="Times New Roman"/>
                <a:cs typeface="Times New Roman"/>
              </a:rPr>
              <a:t>the</a:t>
            </a:r>
            <a:r>
              <a:rPr sz="1900" spc="-50" dirty="0">
                <a:latin typeface="Times New Roman"/>
                <a:cs typeface="Times New Roman"/>
              </a:rPr>
              <a:t> </a:t>
            </a:r>
            <a:r>
              <a:rPr sz="1900" spc="114" dirty="0">
                <a:latin typeface="Times New Roman"/>
                <a:cs typeface="Times New Roman"/>
              </a:rPr>
              <a:t>frst</a:t>
            </a:r>
            <a:r>
              <a:rPr sz="1900" spc="-50" dirty="0">
                <a:latin typeface="Times New Roman"/>
                <a:cs typeface="Times New Roman"/>
              </a:rPr>
              <a:t> </a:t>
            </a:r>
            <a:r>
              <a:rPr sz="1900" spc="75" dirty="0">
                <a:latin typeface="Times New Roman"/>
                <a:cs typeface="Times New Roman"/>
              </a:rPr>
              <a:t>and</a:t>
            </a:r>
            <a:r>
              <a:rPr sz="1900" spc="-50" dirty="0">
                <a:latin typeface="Times New Roman"/>
                <a:cs typeface="Times New Roman"/>
              </a:rPr>
              <a:t> </a:t>
            </a:r>
            <a:r>
              <a:rPr sz="1900" spc="-15" dirty="0">
                <a:latin typeface="Times New Roman"/>
                <a:cs typeface="Times New Roman"/>
              </a:rPr>
              <a:t>last</a:t>
            </a:r>
            <a:r>
              <a:rPr sz="1900" spc="-50" dirty="0">
                <a:latin typeface="Times New Roman"/>
                <a:cs typeface="Times New Roman"/>
              </a:rPr>
              <a:t> </a:t>
            </a:r>
            <a:r>
              <a:rPr sz="1900" spc="-35" dirty="0">
                <a:latin typeface="Times New Roman"/>
                <a:cs typeface="Times New Roman"/>
              </a:rPr>
              <a:t>vertices.</a:t>
            </a:r>
            <a:endParaRPr sz="19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1371600" y="4842509"/>
            <a:ext cx="5943600" cy="132968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4500" y="1073150"/>
            <a:ext cx="5355590" cy="787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60" dirty="0"/>
              <a:t>Types </a:t>
            </a:r>
            <a:r>
              <a:rPr spc="120" dirty="0"/>
              <a:t>of</a:t>
            </a:r>
            <a:r>
              <a:rPr spc="80" dirty="0"/>
              <a:t> </a:t>
            </a:r>
            <a:r>
              <a:rPr spc="175" dirty="0"/>
              <a:t>Primitives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4669" y="1907540"/>
            <a:ext cx="217360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85115" algn="l"/>
              </a:tabLst>
            </a:pPr>
            <a:r>
              <a:rPr sz="2850" spc="-750" baseline="5847" dirty="0">
                <a:solidFill>
                  <a:srgbClr val="B22B15"/>
                </a:solidFill>
                <a:latin typeface="Arial"/>
                <a:cs typeface="Arial"/>
              </a:rPr>
              <a:t>	</a:t>
            </a:r>
            <a:r>
              <a:rPr sz="2000" spc="-5" dirty="0">
                <a:latin typeface="Times New Roman"/>
                <a:cs typeface="Times New Roman"/>
              </a:rPr>
              <a:t>GL_TRIANGLES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28369" y="2218689"/>
            <a:ext cx="139065" cy="27114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600" spc="-415" dirty="0">
                <a:solidFill>
                  <a:srgbClr val="FD8536"/>
                </a:solidFill>
                <a:latin typeface="Arial"/>
                <a:cs typeface="Arial"/>
              </a:rPr>
              <a:t></a:t>
            </a:r>
            <a:endParaRPr sz="16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174750" y="2213609"/>
            <a:ext cx="5901690" cy="314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00" spc="-55" dirty="0">
                <a:latin typeface="Times New Roman"/>
                <a:cs typeface="Times New Roman"/>
              </a:rPr>
              <a:t>Takes</a:t>
            </a:r>
            <a:r>
              <a:rPr sz="1900" spc="-60" dirty="0">
                <a:latin typeface="Times New Roman"/>
                <a:cs typeface="Times New Roman"/>
              </a:rPr>
              <a:t> </a:t>
            </a:r>
            <a:r>
              <a:rPr sz="1900" spc="-30" dirty="0">
                <a:latin typeface="Times New Roman"/>
                <a:cs typeface="Times New Roman"/>
              </a:rPr>
              <a:t>vertices</a:t>
            </a:r>
            <a:r>
              <a:rPr sz="1900" spc="-60" dirty="0">
                <a:latin typeface="Times New Roman"/>
                <a:cs typeface="Times New Roman"/>
              </a:rPr>
              <a:t> </a:t>
            </a:r>
            <a:r>
              <a:rPr sz="1900" spc="65" dirty="0">
                <a:latin typeface="Times New Roman"/>
                <a:cs typeface="Times New Roman"/>
              </a:rPr>
              <a:t>in</a:t>
            </a:r>
            <a:r>
              <a:rPr sz="1900" spc="-55" dirty="0">
                <a:latin typeface="Times New Roman"/>
                <a:cs typeface="Times New Roman"/>
              </a:rPr>
              <a:t> </a:t>
            </a:r>
            <a:r>
              <a:rPr sz="1900" spc="-5" dirty="0">
                <a:latin typeface="Times New Roman"/>
                <a:cs typeface="Times New Roman"/>
              </a:rPr>
              <a:t>triples</a:t>
            </a:r>
            <a:r>
              <a:rPr sz="1900" spc="-60" dirty="0">
                <a:latin typeface="Times New Roman"/>
                <a:cs typeface="Times New Roman"/>
              </a:rPr>
              <a:t> </a:t>
            </a:r>
            <a:r>
              <a:rPr sz="1900" spc="75" dirty="0">
                <a:latin typeface="Times New Roman"/>
                <a:cs typeface="Times New Roman"/>
              </a:rPr>
              <a:t>and</a:t>
            </a:r>
            <a:r>
              <a:rPr sz="1900" spc="-50" dirty="0">
                <a:latin typeface="Times New Roman"/>
                <a:cs typeface="Times New Roman"/>
              </a:rPr>
              <a:t> </a:t>
            </a:r>
            <a:r>
              <a:rPr sz="1900" spc="5" dirty="0">
                <a:latin typeface="Times New Roman"/>
                <a:cs typeface="Times New Roman"/>
              </a:rPr>
              <a:t>draws</a:t>
            </a:r>
            <a:r>
              <a:rPr sz="1900" spc="-60" dirty="0">
                <a:latin typeface="Times New Roman"/>
                <a:cs typeface="Times New Roman"/>
              </a:rPr>
              <a:t> </a:t>
            </a:r>
            <a:r>
              <a:rPr sz="1900" spc="60" dirty="0">
                <a:latin typeface="Times New Roman"/>
                <a:cs typeface="Times New Roman"/>
              </a:rPr>
              <a:t>them</a:t>
            </a:r>
            <a:r>
              <a:rPr sz="1900" spc="-60" dirty="0">
                <a:latin typeface="Times New Roman"/>
                <a:cs typeface="Times New Roman"/>
              </a:rPr>
              <a:t> </a:t>
            </a:r>
            <a:r>
              <a:rPr sz="1900" spc="10" dirty="0">
                <a:latin typeface="Times New Roman"/>
                <a:cs typeface="Times New Roman"/>
              </a:rPr>
              <a:t>as</a:t>
            </a:r>
            <a:r>
              <a:rPr sz="1900" spc="-55" dirty="0">
                <a:latin typeface="Times New Roman"/>
                <a:cs typeface="Times New Roman"/>
              </a:rPr>
              <a:t> </a:t>
            </a:r>
            <a:r>
              <a:rPr sz="1900" spc="60" dirty="0">
                <a:latin typeface="Times New Roman"/>
                <a:cs typeface="Times New Roman"/>
              </a:rPr>
              <a:t>them</a:t>
            </a:r>
            <a:r>
              <a:rPr sz="1900" spc="-60" dirty="0">
                <a:latin typeface="Times New Roman"/>
                <a:cs typeface="Times New Roman"/>
              </a:rPr>
              <a:t> </a:t>
            </a:r>
            <a:r>
              <a:rPr sz="1900" spc="10" dirty="0">
                <a:latin typeface="Times New Roman"/>
                <a:cs typeface="Times New Roman"/>
              </a:rPr>
              <a:t>as</a:t>
            </a:r>
            <a:r>
              <a:rPr sz="1900" spc="-55" dirty="0">
                <a:latin typeface="Times New Roman"/>
                <a:cs typeface="Times New Roman"/>
              </a:rPr>
              <a:t> </a:t>
            </a:r>
            <a:r>
              <a:rPr sz="1900" spc="-25" dirty="0">
                <a:latin typeface="Times New Roman"/>
                <a:cs typeface="Times New Roman"/>
              </a:rPr>
              <a:t>triangles.</a:t>
            </a:r>
            <a:endParaRPr sz="19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34669" y="2505709"/>
            <a:ext cx="164020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85115" algn="l"/>
              </a:tabLst>
            </a:pPr>
            <a:r>
              <a:rPr sz="2850" spc="-750" baseline="5847" dirty="0">
                <a:solidFill>
                  <a:srgbClr val="B22B15"/>
                </a:solidFill>
                <a:latin typeface="Arial"/>
                <a:cs typeface="Arial"/>
              </a:rPr>
              <a:t>	</a:t>
            </a:r>
            <a:r>
              <a:rPr sz="2000" spc="-5" dirty="0">
                <a:latin typeface="Times New Roman"/>
                <a:cs typeface="Times New Roman"/>
              </a:rPr>
              <a:t>GL_QUADS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28369" y="2816859"/>
            <a:ext cx="139065" cy="27114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600" spc="-415" dirty="0">
                <a:solidFill>
                  <a:srgbClr val="FD8536"/>
                </a:solidFill>
                <a:latin typeface="Arial"/>
                <a:cs typeface="Arial"/>
              </a:rPr>
              <a:t></a:t>
            </a:r>
            <a:endParaRPr sz="16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174750" y="2813050"/>
            <a:ext cx="6675755" cy="314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00" spc="-55" dirty="0">
                <a:latin typeface="Times New Roman"/>
                <a:cs typeface="Times New Roman"/>
              </a:rPr>
              <a:t>Takes </a:t>
            </a:r>
            <a:r>
              <a:rPr sz="1900" spc="-30" dirty="0">
                <a:latin typeface="Times New Roman"/>
                <a:cs typeface="Times New Roman"/>
              </a:rPr>
              <a:t>vertices</a:t>
            </a:r>
            <a:r>
              <a:rPr sz="1900" spc="-50" dirty="0">
                <a:latin typeface="Times New Roman"/>
                <a:cs typeface="Times New Roman"/>
              </a:rPr>
              <a:t> </a:t>
            </a:r>
            <a:r>
              <a:rPr sz="1900" spc="65" dirty="0">
                <a:latin typeface="Times New Roman"/>
                <a:cs typeface="Times New Roman"/>
              </a:rPr>
              <a:t>in</a:t>
            </a:r>
            <a:r>
              <a:rPr sz="1900" spc="-50" dirty="0">
                <a:latin typeface="Times New Roman"/>
                <a:cs typeface="Times New Roman"/>
              </a:rPr>
              <a:t> </a:t>
            </a:r>
            <a:r>
              <a:rPr sz="1900" spc="25" dirty="0">
                <a:latin typeface="Times New Roman"/>
                <a:cs typeface="Times New Roman"/>
              </a:rPr>
              <a:t>quadruples</a:t>
            </a:r>
            <a:r>
              <a:rPr sz="1900" spc="-55" dirty="0">
                <a:latin typeface="Times New Roman"/>
                <a:cs typeface="Times New Roman"/>
              </a:rPr>
              <a:t> </a:t>
            </a:r>
            <a:r>
              <a:rPr sz="1900" spc="75" dirty="0">
                <a:latin typeface="Times New Roman"/>
                <a:cs typeface="Times New Roman"/>
              </a:rPr>
              <a:t>and</a:t>
            </a:r>
            <a:r>
              <a:rPr sz="1900" spc="-45" dirty="0">
                <a:latin typeface="Times New Roman"/>
                <a:cs typeface="Times New Roman"/>
              </a:rPr>
              <a:t> </a:t>
            </a:r>
            <a:r>
              <a:rPr sz="1900" spc="5" dirty="0">
                <a:latin typeface="Times New Roman"/>
                <a:cs typeface="Times New Roman"/>
              </a:rPr>
              <a:t>draws</a:t>
            </a:r>
            <a:r>
              <a:rPr sz="1900" spc="-50" dirty="0">
                <a:latin typeface="Times New Roman"/>
                <a:cs typeface="Times New Roman"/>
              </a:rPr>
              <a:t> </a:t>
            </a:r>
            <a:r>
              <a:rPr sz="1900" spc="60" dirty="0">
                <a:latin typeface="Times New Roman"/>
                <a:cs typeface="Times New Roman"/>
              </a:rPr>
              <a:t>them</a:t>
            </a:r>
            <a:r>
              <a:rPr sz="1900" spc="-55" dirty="0">
                <a:latin typeface="Times New Roman"/>
                <a:cs typeface="Times New Roman"/>
              </a:rPr>
              <a:t> </a:t>
            </a:r>
            <a:r>
              <a:rPr sz="1900" spc="10" dirty="0">
                <a:latin typeface="Times New Roman"/>
                <a:cs typeface="Times New Roman"/>
              </a:rPr>
              <a:t>as</a:t>
            </a:r>
            <a:r>
              <a:rPr sz="1900" spc="-50" dirty="0">
                <a:latin typeface="Times New Roman"/>
                <a:cs typeface="Times New Roman"/>
              </a:rPr>
              <a:t> </a:t>
            </a:r>
            <a:r>
              <a:rPr sz="1900" spc="-25" dirty="0">
                <a:latin typeface="Times New Roman"/>
                <a:cs typeface="Times New Roman"/>
              </a:rPr>
              <a:t>four-sided-polygons.</a:t>
            </a:r>
            <a:endParaRPr sz="19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34669" y="3105150"/>
            <a:ext cx="195262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85115" algn="l"/>
              </a:tabLst>
            </a:pPr>
            <a:r>
              <a:rPr sz="2850" spc="-750" baseline="5847" dirty="0">
                <a:solidFill>
                  <a:srgbClr val="B22B15"/>
                </a:solidFill>
                <a:latin typeface="Arial"/>
                <a:cs typeface="Arial"/>
              </a:rPr>
              <a:t>	</a:t>
            </a:r>
            <a:r>
              <a:rPr sz="2000" spc="-25" dirty="0">
                <a:latin typeface="Times New Roman"/>
                <a:cs typeface="Times New Roman"/>
              </a:rPr>
              <a:t>GL_POLYGON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928369" y="3416300"/>
            <a:ext cx="139065" cy="27114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600" spc="-415" dirty="0">
                <a:solidFill>
                  <a:srgbClr val="FD8536"/>
                </a:solidFill>
                <a:latin typeface="Arial"/>
                <a:cs typeface="Arial"/>
              </a:rPr>
              <a:t></a:t>
            </a:r>
            <a:endParaRPr sz="16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928369" y="3939540"/>
            <a:ext cx="139065" cy="27114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600" spc="-415" dirty="0">
                <a:solidFill>
                  <a:srgbClr val="FD8536"/>
                </a:solidFill>
                <a:latin typeface="Arial"/>
                <a:cs typeface="Arial"/>
              </a:rPr>
              <a:t></a:t>
            </a:r>
            <a:endParaRPr sz="16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174750" y="3411220"/>
            <a:ext cx="7411720" cy="1069340"/>
          </a:xfrm>
          <a:prstGeom prst="rect">
            <a:avLst/>
          </a:prstGeom>
        </p:spPr>
        <p:txBody>
          <a:bodyPr vert="horz" wrap="square" lIns="0" tIns="67945" rIns="0" bIns="0" rtlCol="0">
            <a:spAutoFit/>
          </a:bodyPr>
          <a:lstStyle/>
          <a:p>
            <a:pPr marL="12700" marR="806450">
              <a:lnSpc>
                <a:spcPts val="1830"/>
              </a:lnSpc>
              <a:spcBef>
                <a:spcPts val="535"/>
              </a:spcBef>
            </a:pPr>
            <a:r>
              <a:rPr sz="1900" spc="-55" dirty="0">
                <a:latin typeface="Times New Roman"/>
                <a:cs typeface="Times New Roman"/>
              </a:rPr>
              <a:t>Takes</a:t>
            </a:r>
            <a:r>
              <a:rPr sz="1900" spc="-65" dirty="0">
                <a:latin typeface="Times New Roman"/>
                <a:cs typeface="Times New Roman"/>
              </a:rPr>
              <a:t> </a:t>
            </a:r>
            <a:r>
              <a:rPr sz="1900" spc="-5" dirty="0">
                <a:latin typeface="Times New Roman"/>
                <a:cs typeface="Times New Roman"/>
              </a:rPr>
              <a:t>any</a:t>
            </a:r>
            <a:r>
              <a:rPr sz="1900" spc="-65" dirty="0">
                <a:latin typeface="Times New Roman"/>
                <a:cs typeface="Times New Roman"/>
              </a:rPr>
              <a:t> </a:t>
            </a:r>
            <a:r>
              <a:rPr sz="1900" spc="65" dirty="0">
                <a:latin typeface="Times New Roman"/>
                <a:cs typeface="Times New Roman"/>
              </a:rPr>
              <a:t>number</a:t>
            </a:r>
            <a:r>
              <a:rPr sz="1900" spc="-70" dirty="0">
                <a:latin typeface="Times New Roman"/>
                <a:cs typeface="Times New Roman"/>
              </a:rPr>
              <a:t> </a:t>
            </a:r>
            <a:r>
              <a:rPr sz="1900" spc="-10" dirty="0">
                <a:latin typeface="Times New Roman"/>
                <a:cs typeface="Times New Roman"/>
              </a:rPr>
              <a:t>of</a:t>
            </a:r>
            <a:r>
              <a:rPr sz="1900" spc="-65" dirty="0">
                <a:latin typeface="Times New Roman"/>
                <a:cs typeface="Times New Roman"/>
              </a:rPr>
              <a:t> </a:t>
            </a:r>
            <a:r>
              <a:rPr sz="1900" spc="-30" dirty="0">
                <a:latin typeface="Times New Roman"/>
                <a:cs typeface="Times New Roman"/>
              </a:rPr>
              <a:t>vertices</a:t>
            </a:r>
            <a:r>
              <a:rPr sz="1900" spc="-65" dirty="0">
                <a:latin typeface="Times New Roman"/>
                <a:cs typeface="Times New Roman"/>
              </a:rPr>
              <a:t> </a:t>
            </a:r>
            <a:r>
              <a:rPr sz="1900" spc="75" dirty="0">
                <a:latin typeface="Times New Roman"/>
                <a:cs typeface="Times New Roman"/>
              </a:rPr>
              <a:t>and</a:t>
            </a:r>
            <a:r>
              <a:rPr sz="1900" spc="-6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draws</a:t>
            </a:r>
            <a:r>
              <a:rPr sz="1900" spc="-65" dirty="0">
                <a:latin typeface="Times New Roman"/>
                <a:cs typeface="Times New Roman"/>
              </a:rPr>
              <a:t> </a:t>
            </a:r>
            <a:r>
              <a:rPr sz="1900" spc="60" dirty="0">
                <a:latin typeface="Times New Roman"/>
                <a:cs typeface="Times New Roman"/>
              </a:rPr>
              <a:t>the</a:t>
            </a:r>
            <a:r>
              <a:rPr sz="1900" spc="-60" dirty="0">
                <a:latin typeface="Times New Roman"/>
                <a:cs typeface="Times New Roman"/>
              </a:rPr>
              <a:t> </a:t>
            </a:r>
            <a:r>
              <a:rPr sz="1900" spc="20" dirty="0">
                <a:latin typeface="Times New Roman"/>
                <a:cs typeface="Times New Roman"/>
              </a:rPr>
              <a:t>boundary</a:t>
            </a:r>
            <a:r>
              <a:rPr sz="1900" spc="-70" dirty="0">
                <a:latin typeface="Times New Roman"/>
                <a:cs typeface="Times New Roman"/>
              </a:rPr>
              <a:t> </a:t>
            </a:r>
            <a:r>
              <a:rPr sz="1900" spc="-10" dirty="0">
                <a:latin typeface="Times New Roman"/>
                <a:cs typeface="Times New Roman"/>
              </a:rPr>
              <a:t>of</a:t>
            </a:r>
            <a:r>
              <a:rPr sz="1900" spc="-65" dirty="0">
                <a:latin typeface="Times New Roman"/>
                <a:cs typeface="Times New Roman"/>
              </a:rPr>
              <a:t> </a:t>
            </a:r>
            <a:r>
              <a:rPr sz="1900" spc="60" dirty="0">
                <a:latin typeface="Times New Roman"/>
                <a:cs typeface="Times New Roman"/>
              </a:rPr>
              <a:t>the</a:t>
            </a:r>
            <a:r>
              <a:rPr sz="1900" spc="-65" dirty="0">
                <a:latin typeface="Times New Roman"/>
                <a:cs typeface="Times New Roman"/>
              </a:rPr>
              <a:t> </a:t>
            </a:r>
            <a:r>
              <a:rPr sz="1900" spc="-35" dirty="0">
                <a:latin typeface="Times New Roman"/>
                <a:cs typeface="Times New Roman"/>
              </a:rPr>
              <a:t>convex  </a:t>
            </a:r>
            <a:r>
              <a:rPr sz="1900" spc="-5" dirty="0">
                <a:latin typeface="Times New Roman"/>
                <a:cs typeface="Times New Roman"/>
              </a:rPr>
              <a:t>polygon </a:t>
            </a:r>
            <a:r>
              <a:rPr sz="1900" spc="10" dirty="0">
                <a:latin typeface="Times New Roman"/>
                <a:cs typeface="Times New Roman"/>
              </a:rPr>
              <a:t>they</a:t>
            </a:r>
            <a:r>
              <a:rPr sz="1900" spc="-120" dirty="0">
                <a:latin typeface="Times New Roman"/>
                <a:cs typeface="Times New Roman"/>
              </a:rPr>
              <a:t> </a:t>
            </a:r>
            <a:r>
              <a:rPr sz="1900" spc="5" dirty="0">
                <a:latin typeface="Times New Roman"/>
                <a:cs typeface="Times New Roman"/>
              </a:rPr>
              <a:t>form.</a:t>
            </a:r>
            <a:endParaRPr sz="1900">
              <a:latin typeface="Times New Roman"/>
              <a:cs typeface="Times New Roman"/>
            </a:endParaRPr>
          </a:p>
          <a:p>
            <a:pPr marL="12700" marR="5080">
              <a:lnSpc>
                <a:spcPct val="79800"/>
              </a:lnSpc>
              <a:spcBef>
                <a:spcPts val="484"/>
              </a:spcBef>
            </a:pPr>
            <a:r>
              <a:rPr sz="1900" spc="-25" dirty="0">
                <a:latin typeface="Times New Roman"/>
                <a:cs typeface="Times New Roman"/>
              </a:rPr>
              <a:t>Note: </a:t>
            </a:r>
            <a:r>
              <a:rPr sz="1900" spc="65" dirty="0">
                <a:latin typeface="Times New Roman"/>
                <a:cs typeface="Times New Roman"/>
              </a:rPr>
              <a:t>Order </a:t>
            </a:r>
            <a:r>
              <a:rPr sz="1900" spc="-5" dirty="0">
                <a:latin typeface="Times New Roman"/>
                <a:cs typeface="Times New Roman"/>
              </a:rPr>
              <a:t>of </a:t>
            </a:r>
            <a:r>
              <a:rPr sz="1900" spc="-25" dirty="0">
                <a:latin typeface="Times New Roman"/>
                <a:cs typeface="Times New Roman"/>
              </a:rPr>
              <a:t>vertices </a:t>
            </a:r>
            <a:r>
              <a:rPr sz="1900" spc="60" dirty="0">
                <a:latin typeface="Times New Roman"/>
                <a:cs typeface="Times New Roman"/>
              </a:rPr>
              <a:t>here </a:t>
            </a:r>
            <a:r>
              <a:rPr sz="1900" spc="-5" dirty="0">
                <a:latin typeface="Times New Roman"/>
                <a:cs typeface="Times New Roman"/>
              </a:rPr>
              <a:t>is </a:t>
            </a:r>
            <a:r>
              <a:rPr sz="1900" spc="20" dirty="0">
                <a:latin typeface="Times New Roman"/>
                <a:cs typeface="Times New Roman"/>
              </a:rPr>
              <a:t>important. </a:t>
            </a:r>
            <a:r>
              <a:rPr sz="1900" spc="-20" dirty="0">
                <a:latin typeface="Times New Roman"/>
                <a:cs typeface="Times New Roman"/>
              </a:rPr>
              <a:t>A</a:t>
            </a:r>
            <a:r>
              <a:rPr sz="1900" b="1" spc="-20" dirty="0">
                <a:latin typeface="Times New Roman"/>
                <a:cs typeface="Times New Roman"/>
              </a:rPr>
              <a:t>l </a:t>
            </a:r>
            <a:r>
              <a:rPr sz="1900" spc="-10" dirty="0">
                <a:latin typeface="Times New Roman"/>
                <a:cs typeface="Times New Roman"/>
              </a:rPr>
              <a:t>polygons </a:t>
            </a:r>
            <a:r>
              <a:rPr sz="1900" spc="45" dirty="0">
                <a:latin typeface="Times New Roman"/>
                <a:cs typeface="Times New Roman"/>
              </a:rPr>
              <a:t>must </a:t>
            </a:r>
            <a:r>
              <a:rPr sz="1900" spc="85" dirty="0">
                <a:latin typeface="Times New Roman"/>
                <a:cs typeface="Times New Roman"/>
              </a:rPr>
              <a:t>be</a:t>
            </a:r>
            <a:r>
              <a:rPr sz="1900" spc="-225" dirty="0">
                <a:latin typeface="Times New Roman"/>
                <a:cs typeface="Times New Roman"/>
              </a:rPr>
              <a:t> </a:t>
            </a:r>
            <a:r>
              <a:rPr sz="1900" spc="-25" dirty="0">
                <a:latin typeface="Times New Roman"/>
                <a:cs typeface="Times New Roman"/>
              </a:rPr>
              <a:t>convex </a:t>
            </a:r>
            <a:r>
              <a:rPr sz="1900" spc="80" dirty="0">
                <a:latin typeface="Times New Roman"/>
                <a:cs typeface="Times New Roman"/>
              </a:rPr>
              <a:t>and  </a:t>
            </a:r>
            <a:r>
              <a:rPr sz="1900" spc="20" dirty="0">
                <a:latin typeface="Times New Roman"/>
                <a:cs typeface="Times New Roman"/>
              </a:rPr>
              <a:t>their </a:t>
            </a:r>
            <a:r>
              <a:rPr sz="1900" dirty="0">
                <a:latin typeface="Times New Roman"/>
                <a:cs typeface="Times New Roman"/>
              </a:rPr>
              <a:t>edges </a:t>
            </a:r>
            <a:r>
              <a:rPr sz="1900" spc="20" dirty="0">
                <a:latin typeface="Times New Roman"/>
                <a:cs typeface="Times New Roman"/>
              </a:rPr>
              <a:t>cannot</a:t>
            </a:r>
            <a:r>
              <a:rPr sz="1900" spc="-229" dirty="0">
                <a:latin typeface="Times New Roman"/>
                <a:cs typeface="Times New Roman"/>
              </a:rPr>
              <a:t> </a:t>
            </a:r>
            <a:r>
              <a:rPr sz="1900" spc="-15" dirty="0">
                <a:latin typeface="Times New Roman"/>
                <a:cs typeface="Times New Roman"/>
              </a:rPr>
              <a:t>intersect.</a:t>
            </a:r>
            <a:endParaRPr sz="19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1219200" y="4648200"/>
            <a:ext cx="6737350" cy="150622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4500" y="1073150"/>
            <a:ext cx="5355590" cy="787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60" dirty="0"/>
              <a:t>Types </a:t>
            </a:r>
            <a:r>
              <a:rPr spc="120" dirty="0"/>
              <a:t>of</a:t>
            </a:r>
            <a:r>
              <a:rPr spc="80" dirty="0"/>
              <a:t> </a:t>
            </a:r>
            <a:r>
              <a:rPr spc="175" dirty="0"/>
              <a:t>Primitives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4669" y="1907540"/>
            <a:ext cx="285369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85115" algn="l"/>
              </a:tabLst>
            </a:pPr>
            <a:r>
              <a:rPr sz="2850" spc="-750" baseline="5847" dirty="0">
                <a:solidFill>
                  <a:srgbClr val="B22B15"/>
                </a:solidFill>
                <a:latin typeface="Arial"/>
                <a:cs typeface="Arial"/>
              </a:rPr>
              <a:t>	</a:t>
            </a:r>
            <a:r>
              <a:rPr sz="2000" spc="-5" dirty="0">
                <a:latin typeface="Times New Roman"/>
                <a:cs typeface="Times New Roman"/>
              </a:rPr>
              <a:t>GL_TRIANGLE_STRIP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74750" y="2213609"/>
            <a:ext cx="5775960" cy="314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00" spc="-50" dirty="0">
                <a:latin typeface="Times New Roman"/>
                <a:cs typeface="Times New Roman"/>
              </a:rPr>
              <a:t>Takes</a:t>
            </a:r>
            <a:r>
              <a:rPr sz="1900" spc="-60" dirty="0">
                <a:latin typeface="Times New Roman"/>
                <a:cs typeface="Times New Roman"/>
              </a:rPr>
              <a:t> </a:t>
            </a:r>
            <a:r>
              <a:rPr sz="1900" spc="5" dirty="0">
                <a:latin typeface="Times New Roman"/>
                <a:cs typeface="Times New Roman"/>
              </a:rPr>
              <a:t>any</a:t>
            </a:r>
            <a:r>
              <a:rPr sz="1900" spc="-55" dirty="0">
                <a:latin typeface="Times New Roman"/>
                <a:cs typeface="Times New Roman"/>
              </a:rPr>
              <a:t> </a:t>
            </a:r>
            <a:r>
              <a:rPr sz="1900" spc="70" dirty="0">
                <a:latin typeface="Times New Roman"/>
                <a:cs typeface="Times New Roman"/>
              </a:rPr>
              <a:t>number</a:t>
            </a:r>
            <a:r>
              <a:rPr sz="1900" spc="-60" dirty="0">
                <a:latin typeface="Times New Roman"/>
                <a:cs typeface="Times New Roman"/>
              </a:rPr>
              <a:t> </a:t>
            </a:r>
            <a:r>
              <a:rPr sz="1900" spc="-5" dirty="0">
                <a:latin typeface="Times New Roman"/>
                <a:cs typeface="Times New Roman"/>
              </a:rPr>
              <a:t>of</a:t>
            </a:r>
            <a:r>
              <a:rPr sz="1900" spc="-55" dirty="0">
                <a:latin typeface="Times New Roman"/>
                <a:cs typeface="Times New Roman"/>
              </a:rPr>
              <a:t> </a:t>
            </a:r>
            <a:r>
              <a:rPr sz="1900" spc="-25" dirty="0">
                <a:latin typeface="Times New Roman"/>
                <a:cs typeface="Times New Roman"/>
              </a:rPr>
              <a:t>vertices</a:t>
            </a:r>
            <a:r>
              <a:rPr sz="1900" spc="-55" dirty="0">
                <a:latin typeface="Times New Roman"/>
                <a:cs typeface="Times New Roman"/>
              </a:rPr>
              <a:t> </a:t>
            </a:r>
            <a:r>
              <a:rPr sz="1900" spc="75" dirty="0">
                <a:latin typeface="Times New Roman"/>
                <a:cs typeface="Times New Roman"/>
              </a:rPr>
              <a:t>and</a:t>
            </a:r>
            <a:r>
              <a:rPr sz="1900" spc="-55" dirty="0">
                <a:latin typeface="Times New Roman"/>
                <a:cs typeface="Times New Roman"/>
              </a:rPr>
              <a:t> </a:t>
            </a:r>
            <a:r>
              <a:rPr sz="1900" spc="5" dirty="0">
                <a:latin typeface="Times New Roman"/>
                <a:cs typeface="Times New Roman"/>
              </a:rPr>
              <a:t>draws</a:t>
            </a:r>
            <a:r>
              <a:rPr sz="1900" spc="-55" dirty="0">
                <a:latin typeface="Times New Roman"/>
                <a:cs typeface="Times New Roman"/>
              </a:rPr>
              <a:t> </a:t>
            </a:r>
            <a:r>
              <a:rPr sz="1900" spc="70" dirty="0">
                <a:latin typeface="Times New Roman"/>
                <a:cs typeface="Times New Roman"/>
              </a:rPr>
              <a:t>a</a:t>
            </a:r>
            <a:r>
              <a:rPr sz="1900" spc="-55" dirty="0">
                <a:latin typeface="Times New Roman"/>
                <a:cs typeface="Times New Roman"/>
              </a:rPr>
              <a:t> </a:t>
            </a:r>
            <a:r>
              <a:rPr sz="1900" spc="15" dirty="0">
                <a:latin typeface="Times New Roman"/>
                <a:cs typeface="Times New Roman"/>
              </a:rPr>
              <a:t>strip</a:t>
            </a:r>
            <a:r>
              <a:rPr sz="1900" spc="-55" dirty="0">
                <a:latin typeface="Times New Roman"/>
                <a:cs typeface="Times New Roman"/>
              </a:rPr>
              <a:t> </a:t>
            </a:r>
            <a:r>
              <a:rPr sz="1900" spc="-5" dirty="0">
                <a:latin typeface="Times New Roman"/>
                <a:cs typeface="Times New Roman"/>
              </a:rPr>
              <a:t>of</a:t>
            </a:r>
            <a:r>
              <a:rPr sz="1900" spc="-55" dirty="0">
                <a:latin typeface="Times New Roman"/>
                <a:cs typeface="Times New Roman"/>
              </a:rPr>
              <a:t> </a:t>
            </a:r>
            <a:r>
              <a:rPr sz="1900" spc="-20" dirty="0">
                <a:latin typeface="Times New Roman"/>
                <a:cs typeface="Times New Roman"/>
              </a:rPr>
              <a:t>triangles.</a:t>
            </a:r>
            <a:endParaRPr sz="19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28369" y="2171953"/>
            <a:ext cx="139065" cy="609600"/>
          </a:xfrm>
          <a:prstGeom prst="rect">
            <a:avLst/>
          </a:prstGeom>
        </p:spPr>
        <p:txBody>
          <a:bodyPr vert="horz" wrap="square" lIns="0" tIns="603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75"/>
              </a:spcBef>
            </a:pPr>
            <a:r>
              <a:rPr sz="1600" spc="-415" dirty="0">
                <a:solidFill>
                  <a:srgbClr val="FD8536"/>
                </a:solidFill>
                <a:latin typeface="Arial"/>
                <a:cs typeface="Arial"/>
              </a:rPr>
              <a:t></a:t>
            </a:r>
            <a:endParaRPr sz="1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380"/>
              </a:spcBef>
            </a:pPr>
            <a:r>
              <a:rPr sz="1600" spc="-415" dirty="0">
                <a:solidFill>
                  <a:srgbClr val="FD8536"/>
                </a:solidFill>
                <a:latin typeface="Arial"/>
                <a:cs typeface="Arial"/>
              </a:rPr>
              <a:t></a:t>
            </a:r>
            <a:endParaRPr sz="16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174750" y="2505709"/>
            <a:ext cx="6316980" cy="314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00" spc="40" dirty="0">
                <a:latin typeface="Times New Roman"/>
                <a:cs typeface="Times New Roman"/>
              </a:rPr>
              <a:t>Here:</a:t>
            </a:r>
            <a:r>
              <a:rPr sz="1900" spc="-135" dirty="0">
                <a:latin typeface="Times New Roman"/>
                <a:cs typeface="Times New Roman"/>
              </a:rPr>
              <a:t> </a:t>
            </a:r>
            <a:r>
              <a:rPr sz="1900" spc="25" dirty="0">
                <a:latin typeface="Times New Roman"/>
                <a:cs typeface="Times New Roman"/>
              </a:rPr>
              <a:t>p0,</a:t>
            </a:r>
            <a:r>
              <a:rPr sz="1900" spc="-130" dirty="0">
                <a:latin typeface="Times New Roman"/>
                <a:cs typeface="Times New Roman"/>
              </a:rPr>
              <a:t> </a:t>
            </a:r>
            <a:r>
              <a:rPr sz="1900" spc="25" dirty="0">
                <a:latin typeface="Times New Roman"/>
                <a:cs typeface="Times New Roman"/>
              </a:rPr>
              <a:t>p1,</a:t>
            </a:r>
            <a:r>
              <a:rPr sz="1900" spc="-135" dirty="0">
                <a:latin typeface="Times New Roman"/>
                <a:cs typeface="Times New Roman"/>
              </a:rPr>
              <a:t> </a:t>
            </a:r>
            <a:r>
              <a:rPr sz="1900" spc="60" dirty="0">
                <a:latin typeface="Times New Roman"/>
                <a:cs typeface="Times New Roman"/>
              </a:rPr>
              <a:t>p2</a:t>
            </a:r>
            <a:r>
              <a:rPr sz="1900" spc="-20" dirty="0">
                <a:latin typeface="Times New Roman"/>
                <a:cs typeface="Times New Roman"/>
              </a:rPr>
              <a:t> </a:t>
            </a:r>
            <a:r>
              <a:rPr sz="1900" spc="-10" dirty="0">
                <a:latin typeface="Times New Roman"/>
                <a:cs typeface="Times New Roman"/>
              </a:rPr>
              <a:t>followed</a:t>
            </a:r>
            <a:r>
              <a:rPr sz="1900" spc="-20" dirty="0">
                <a:latin typeface="Times New Roman"/>
                <a:cs typeface="Times New Roman"/>
              </a:rPr>
              <a:t> </a:t>
            </a:r>
            <a:r>
              <a:rPr sz="1900" spc="15" dirty="0">
                <a:latin typeface="Times New Roman"/>
                <a:cs typeface="Times New Roman"/>
              </a:rPr>
              <a:t>by</a:t>
            </a:r>
            <a:r>
              <a:rPr sz="1900" spc="-25" dirty="0">
                <a:latin typeface="Times New Roman"/>
                <a:cs typeface="Times New Roman"/>
              </a:rPr>
              <a:t> </a:t>
            </a:r>
            <a:r>
              <a:rPr sz="1900" spc="25" dirty="0">
                <a:latin typeface="Times New Roman"/>
                <a:cs typeface="Times New Roman"/>
              </a:rPr>
              <a:t>p2,</a:t>
            </a:r>
            <a:r>
              <a:rPr sz="1900" spc="-130" dirty="0">
                <a:latin typeface="Times New Roman"/>
                <a:cs typeface="Times New Roman"/>
              </a:rPr>
              <a:t> </a:t>
            </a:r>
            <a:r>
              <a:rPr sz="1900" spc="25" dirty="0">
                <a:latin typeface="Times New Roman"/>
                <a:cs typeface="Times New Roman"/>
              </a:rPr>
              <a:t>p1,</a:t>
            </a:r>
            <a:r>
              <a:rPr sz="1900" spc="-135" dirty="0">
                <a:latin typeface="Times New Roman"/>
                <a:cs typeface="Times New Roman"/>
              </a:rPr>
              <a:t> </a:t>
            </a:r>
            <a:r>
              <a:rPr sz="1900" spc="60" dirty="0">
                <a:latin typeface="Times New Roman"/>
                <a:cs typeface="Times New Roman"/>
              </a:rPr>
              <a:t>p3</a:t>
            </a:r>
            <a:r>
              <a:rPr sz="1900" spc="-20" dirty="0">
                <a:latin typeface="Times New Roman"/>
                <a:cs typeface="Times New Roman"/>
              </a:rPr>
              <a:t> </a:t>
            </a:r>
            <a:r>
              <a:rPr sz="1900" spc="-10" dirty="0">
                <a:latin typeface="Times New Roman"/>
                <a:cs typeface="Times New Roman"/>
              </a:rPr>
              <a:t>followed</a:t>
            </a:r>
            <a:r>
              <a:rPr sz="1900" spc="-20" dirty="0">
                <a:latin typeface="Times New Roman"/>
                <a:cs typeface="Times New Roman"/>
              </a:rPr>
              <a:t> </a:t>
            </a:r>
            <a:r>
              <a:rPr sz="1900" spc="15" dirty="0">
                <a:latin typeface="Times New Roman"/>
                <a:cs typeface="Times New Roman"/>
              </a:rPr>
              <a:t>by</a:t>
            </a:r>
            <a:r>
              <a:rPr sz="1900" spc="-25" dirty="0">
                <a:latin typeface="Times New Roman"/>
                <a:cs typeface="Times New Roman"/>
              </a:rPr>
              <a:t> </a:t>
            </a:r>
            <a:r>
              <a:rPr sz="1900" spc="25" dirty="0">
                <a:latin typeface="Times New Roman"/>
                <a:cs typeface="Times New Roman"/>
              </a:rPr>
              <a:t>p2,</a:t>
            </a:r>
            <a:r>
              <a:rPr sz="1900" spc="-130" dirty="0">
                <a:latin typeface="Times New Roman"/>
                <a:cs typeface="Times New Roman"/>
              </a:rPr>
              <a:t> </a:t>
            </a:r>
            <a:r>
              <a:rPr sz="1900" spc="25" dirty="0">
                <a:latin typeface="Times New Roman"/>
                <a:cs typeface="Times New Roman"/>
              </a:rPr>
              <a:t>p3,</a:t>
            </a:r>
            <a:r>
              <a:rPr sz="1900" spc="-135" dirty="0">
                <a:latin typeface="Times New Roman"/>
                <a:cs typeface="Times New Roman"/>
              </a:rPr>
              <a:t> </a:t>
            </a:r>
            <a:r>
              <a:rPr sz="1900" spc="10" dirty="0">
                <a:latin typeface="Times New Roman"/>
                <a:cs typeface="Times New Roman"/>
              </a:rPr>
              <a:t>p4…</a:t>
            </a:r>
            <a:endParaRPr sz="19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34669" y="2797809"/>
            <a:ext cx="231902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85115" algn="l"/>
              </a:tabLst>
            </a:pPr>
            <a:r>
              <a:rPr sz="2850" spc="-750" baseline="5847" dirty="0">
                <a:solidFill>
                  <a:srgbClr val="B22B15"/>
                </a:solidFill>
                <a:latin typeface="Arial"/>
                <a:cs typeface="Arial"/>
              </a:rPr>
              <a:t>	</a:t>
            </a:r>
            <a:r>
              <a:rPr sz="2000" spc="20" dirty="0">
                <a:latin typeface="Times New Roman"/>
                <a:cs typeface="Times New Roman"/>
              </a:rPr>
              <a:t>G</a:t>
            </a:r>
            <a:r>
              <a:rPr sz="2000" spc="25" dirty="0">
                <a:latin typeface="Times New Roman"/>
                <a:cs typeface="Times New Roman"/>
              </a:rPr>
              <a:t>L</a:t>
            </a:r>
            <a:r>
              <a:rPr sz="2000" spc="-120" dirty="0">
                <a:latin typeface="Times New Roman"/>
                <a:cs typeface="Times New Roman"/>
              </a:rPr>
              <a:t>_</a:t>
            </a:r>
            <a:r>
              <a:rPr sz="2000" spc="90" dirty="0">
                <a:latin typeface="Times New Roman"/>
                <a:cs typeface="Times New Roman"/>
              </a:rPr>
              <a:t>Q</a:t>
            </a:r>
            <a:r>
              <a:rPr sz="2000" spc="-160" dirty="0">
                <a:latin typeface="Times New Roman"/>
                <a:cs typeface="Times New Roman"/>
              </a:rPr>
              <a:t>U</a:t>
            </a:r>
            <a:r>
              <a:rPr sz="2000" spc="-90" dirty="0">
                <a:latin typeface="Times New Roman"/>
                <a:cs typeface="Times New Roman"/>
              </a:rPr>
              <a:t>A</a:t>
            </a:r>
            <a:r>
              <a:rPr sz="2000" spc="65" dirty="0">
                <a:latin typeface="Times New Roman"/>
                <a:cs typeface="Times New Roman"/>
              </a:rPr>
              <a:t>D</a:t>
            </a:r>
            <a:r>
              <a:rPr sz="2000" spc="-120" dirty="0">
                <a:latin typeface="Times New Roman"/>
                <a:cs typeface="Times New Roman"/>
              </a:rPr>
              <a:t>_</a:t>
            </a:r>
            <a:r>
              <a:rPr sz="2000" spc="95" dirty="0">
                <a:latin typeface="Times New Roman"/>
                <a:cs typeface="Times New Roman"/>
              </a:rPr>
              <a:t>S</a:t>
            </a:r>
            <a:r>
              <a:rPr sz="2000" spc="25" dirty="0">
                <a:latin typeface="Times New Roman"/>
                <a:cs typeface="Times New Roman"/>
              </a:rPr>
              <a:t>T</a:t>
            </a:r>
            <a:r>
              <a:rPr sz="2000" spc="-15" dirty="0">
                <a:latin typeface="Times New Roman"/>
                <a:cs typeface="Times New Roman"/>
              </a:rPr>
              <a:t>R</a:t>
            </a:r>
            <a:r>
              <a:rPr sz="2000" spc="-20" dirty="0">
                <a:latin typeface="Times New Roman"/>
                <a:cs typeface="Times New Roman"/>
              </a:rPr>
              <a:t>I</a:t>
            </a:r>
            <a:r>
              <a:rPr sz="2000" spc="180" dirty="0">
                <a:latin typeface="Times New Roman"/>
                <a:cs typeface="Times New Roman"/>
              </a:rPr>
              <a:t>P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174750" y="3103879"/>
            <a:ext cx="5567045" cy="314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00" spc="-55" dirty="0">
                <a:latin typeface="Times New Roman"/>
                <a:cs typeface="Times New Roman"/>
              </a:rPr>
              <a:t>Takes</a:t>
            </a:r>
            <a:r>
              <a:rPr sz="1900" spc="-70" dirty="0">
                <a:latin typeface="Times New Roman"/>
                <a:cs typeface="Times New Roman"/>
              </a:rPr>
              <a:t> </a:t>
            </a:r>
            <a:r>
              <a:rPr sz="1900" spc="-5" dirty="0">
                <a:latin typeface="Times New Roman"/>
                <a:cs typeface="Times New Roman"/>
              </a:rPr>
              <a:t>any</a:t>
            </a:r>
            <a:r>
              <a:rPr sz="1900" spc="-70" dirty="0">
                <a:latin typeface="Times New Roman"/>
                <a:cs typeface="Times New Roman"/>
              </a:rPr>
              <a:t> </a:t>
            </a:r>
            <a:r>
              <a:rPr sz="1900" spc="65" dirty="0">
                <a:latin typeface="Times New Roman"/>
                <a:cs typeface="Times New Roman"/>
              </a:rPr>
              <a:t>number</a:t>
            </a:r>
            <a:r>
              <a:rPr sz="1900" spc="-70" dirty="0">
                <a:latin typeface="Times New Roman"/>
                <a:cs typeface="Times New Roman"/>
              </a:rPr>
              <a:t> </a:t>
            </a:r>
            <a:r>
              <a:rPr sz="1900" spc="-10" dirty="0">
                <a:latin typeface="Times New Roman"/>
                <a:cs typeface="Times New Roman"/>
              </a:rPr>
              <a:t>of</a:t>
            </a:r>
            <a:r>
              <a:rPr sz="1900" spc="-70" dirty="0">
                <a:latin typeface="Times New Roman"/>
                <a:cs typeface="Times New Roman"/>
              </a:rPr>
              <a:t> </a:t>
            </a:r>
            <a:r>
              <a:rPr sz="1900" spc="-30" dirty="0">
                <a:latin typeface="Times New Roman"/>
                <a:cs typeface="Times New Roman"/>
              </a:rPr>
              <a:t>vertices</a:t>
            </a:r>
            <a:r>
              <a:rPr sz="1900" spc="-70" dirty="0">
                <a:latin typeface="Times New Roman"/>
                <a:cs typeface="Times New Roman"/>
              </a:rPr>
              <a:t> </a:t>
            </a:r>
            <a:r>
              <a:rPr sz="1900" spc="75" dirty="0">
                <a:latin typeface="Times New Roman"/>
                <a:cs typeface="Times New Roman"/>
              </a:rPr>
              <a:t>and</a:t>
            </a:r>
            <a:r>
              <a:rPr sz="1900" spc="-6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draws</a:t>
            </a:r>
            <a:r>
              <a:rPr sz="1900" spc="-65" dirty="0">
                <a:latin typeface="Times New Roman"/>
                <a:cs typeface="Times New Roman"/>
              </a:rPr>
              <a:t> </a:t>
            </a:r>
            <a:r>
              <a:rPr sz="1900" spc="70" dirty="0">
                <a:latin typeface="Times New Roman"/>
                <a:cs typeface="Times New Roman"/>
              </a:rPr>
              <a:t>a</a:t>
            </a:r>
            <a:r>
              <a:rPr sz="1900" spc="-70" dirty="0">
                <a:latin typeface="Times New Roman"/>
                <a:cs typeface="Times New Roman"/>
              </a:rPr>
              <a:t> </a:t>
            </a:r>
            <a:r>
              <a:rPr sz="1900" spc="10" dirty="0">
                <a:latin typeface="Times New Roman"/>
                <a:cs typeface="Times New Roman"/>
              </a:rPr>
              <a:t>strip</a:t>
            </a:r>
            <a:r>
              <a:rPr sz="1900" spc="-65" dirty="0">
                <a:latin typeface="Times New Roman"/>
                <a:cs typeface="Times New Roman"/>
              </a:rPr>
              <a:t> </a:t>
            </a:r>
            <a:r>
              <a:rPr sz="1900" spc="-10" dirty="0">
                <a:latin typeface="Times New Roman"/>
                <a:cs typeface="Times New Roman"/>
              </a:rPr>
              <a:t>of</a:t>
            </a:r>
            <a:r>
              <a:rPr sz="1900" spc="-75" dirty="0">
                <a:latin typeface="Times New Roman"/>
                <a:cs typeface="Times New Roman"/>
              </a:rPr>
              <a:t> </a:t>
            </a:r>
            <a:r>
              <a:rPr sz="1900" spc="35" dirty="0">
                <a:latin typeface="Times New Roman"/>
                <a:cs typeface="Times New Roman"/>
              </a:rPr>
              <a:t>quads</a:t>
            </a:r>
            <a:r>
              <a:rPr sz="1900" spc="-65" dirty="0">
                <a:latin typeface="Times New Roman"/>
                <a:cs typeface="Times New Roman"/>
              </a:rPr>
              <a:t> </a:t>
            </a:r>
            <a:r>
              <a:rPr sz="1900" spc="50" dirty="0">
                <a:latin typeface="Times New Roman"/>
                <a:cs typeface="Times New Roman"/>
              </a:rPr>
              <a:t>.</a:t>
            </a:r>
            <a:endParaRPr sz="19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28369" y="3062223"/>
            <a:ext cx="139065" cy="609600"/>
          </a:xfrm>
          <a:prstGeom prst="rect">
            <a:avLst/>
          </a:prstGeom>
        </p:spPr>
        <p:txBody>
          <a:bodyPr vert="horz" wrap="square" lIns="0" tIns="603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75"/>
              </a:spcBef>
            </a:pPr>
            <a:r>
              <a:rPr sz="1600" spc="-415" dirty="0">
                <a:solidFill>
                  <a:srgbClr val="FD8536"/>
                </a:solidFill>
                <a:latin typeface="Arial"/>
                <a:cs typeface="Arial"/>
              </a:rPr>
              <a:t></a:t>
            </a:r>
            <a:endParaRPr sz="1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380"/>
              </a:spcBef>
            </a:pPr>
            <a:r>
              <a:rPr sz="1600" spc="-415" dirty="0">
                <a:solidFill>
                  <a:srgbClr val="FD8536"/>
                </a:solidFill>
                <a:latin typeface="Arial"/>
                <a:cs typeface="Arial"/>
              </a:rPr>
              <a:t></a:t>
            </a:r>
            <a:endParaRPr sz="16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174750" y="3395979"/>
            <a:ext cx="4839970" cy="314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00" spc="35" dirty="0">
                <a:latin typeface="Times New Roman"/>
                <a:cs typeface="Times New Roman"/>
              </a:rPr>
              <a:t>Here:</a:t>
            </a:r>
            <a:r>
              <a:rPr sz="1900" spc="-145" dirty="0">
                <a:latin typeface="Times New Roman"/>
                <a:cs typeface="Times New Roman"/>
              </a:rPr>
              <a:t> </a:t>
            </a:r>
            <a:r>
              <a:rPr sz="1900" spc="25" dirty="0">
                <a:latin typeface="Times New Roman"/>
                <a:cs typeface="Times New Roman"/>
              </a:rPr>
              <a:t>p0,</a:t>
            </a:r>
            <a:r>
              <a:rPr sz="1900" spc="-145" dirty="0">
                <a:latin typeface="Times New Roman"/>
                <a:cs typeface="Times New Roman"/>
              </a:rPr>
              <a:t> </a:t>
            </a:r>
            <a:r>
              <a:rPr sz="1900" spc="25" dirty="0">
                <a:latin typeface="Times New Roman"/>
                <a:cs typeface="Times New Roman"/>
              </a:rPr>
              <a:t>p1,</a:t>
            </a:r>
            <a:r>
              <a:rPr sz="1900" spc="-140" dirty="0">
                <a:latin typeface="Times New Roman"/>
                <a:cs typeface="Times New Roman"/>
              </a:rPr>
              <a:t> </a:t>
            </a:r>
            <a:r>
              <a:rPr sz="1900" spc="25" dirty="0">
                <a:latin typeface="Times New Roman"/>
                <a:cs typeface="Times New Roman"/>
              </a:rPr>
              <a:t>p3,</a:t>
            </a:r>
            <a:r>
              <a:rPr sz="1900" spc="-145" dirty="0">
                <a:latin typeface="Times New Roman"/>
                <a:cs typeface="Times New Roman"/>
              </a:rPr>
              <a:t> </a:t>
            </a:r>
            <a:r>
              <a:rPr sz="1900" spc="60" dirty="0">
                <a:latin typeface="Times New Roman"/>
                <a:cs typeface="Times New Roman"/>
              </a:rPr>
              <a:t>p2</a:t>
            </a:r>
            <a:r>
              <a:rPr sz="1900" spc="-35" dirty="0">
                <a:latin typeface="Times New Roman"/>
                <a:cs typeface="Times New Roman"/>
              </a:rPr>
              <a:t> </a:t>
            </a:r>
            <a:r>
              <a:rPr sz="1900" spc="-10" dirty="0">
                <a:latin typeface="Times New Roman"/>
                <a:cs typeface="Times New Roman"/>
              </a:rPr>
              <a:t>followed</a:t>
            </a:r>
            <a:r>
              <a:rPr sz="1900" spc="-30" dirty="0">
                <a:latin typeface="Times New Roman"/>
                <a:cs typeface="Times New Roman"/>
              </a:rPr>
              <a:t> </a:t>
            </a:r>
            <a:r>
              <a:rPr sz="1900" spc="10" dirty="0">
                <a:latin typeface="Times New Roman"/>
                <a:cs typeface="Times New Roman"/>
              </a:rPr>
              <a:t>by</a:t>
            </a:r>
            <a:r>
              <a:rPr sz="1900" spc="-40" dirty="0">
                <a:latin typeface="Times New Roman"/>
                <a:cs typeface="Times New Roman"/>
              </a:rPr>
              <a:t> </a:t>
            </a:r>
            <a:r>
              <a:rPr sz="1900" spc="25" dirty="0">
                <a:latin typeface="Times New Roman"/>
                <a:cs typeface="Times New Roman"/>
              </a:rPr>
              <a:t>p2,</a:t>
            </a:r>
            <a:r>
              <a:rPr sz="1900" spc="-140" dirty="0">
                <a:latin typeface="Times New Roman"/>
                <a:cs typeface="Times New Roman"/>
              </a:rPr>
              <a:t> </a:t>
            </a:r>
            <a:r>
              <a:rPr sz="1900" spc="25" dirty="0">
                <a:latin typeface="Times New Roman"/>
                <a:cs typeface="Times New Roman"/>
              </a:rPr>
              <a:t>p3,</a:t>
            </a:r>
            <a:r>
              <a:rPr sz="1900" spc="-145" dirty="0">
                <a:latin typeface="Times New Roman"/>
                <a:cs typeface="Times New Roman"/>
              </a:rPr>
              <a:t> </a:t>
            </a:r>
            <a:r>
              <a:rPr sz="1900" spc="25" dirty="0">
                <a:latin typeface="Times New Roman"/>
                <a:cs typeface="Times New Roman"/>
              </a:rPr>
              <a:t>p5,</a:t>
            </a:r>
            <a:r>
              <a:rPr sz="1900" spc="-140" dirty="0">
                <a:latin typeface="Times New Roman"/>
                <a:cs typeface="Times New Roman"/>
              </a:rPr>
              <a:t> </a:t>
            </a:r>
            <a:r>
              <a:rPr sz="1900" spc="60" dirty="0">
                <a:latin typeface="Times New Roman"/>
                <a:cs typeface="Times New Roman"/>
              </a:rPr>
              <a:t>p4</a:t>
            </a:r>
            <a:r>
              <a:rPr sz="1900" spc="-3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…</a:t>
            </a:r>
            <a:endParaRPr sz="19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34669" y="3688079"/>
            <a:ext cx="264985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85115" algn="l"/>
              </a:tabLst>
            </a:pPr>
            <a:r>
              <a:rPr sz="2850" spc="-750" baseline="5847" dirty="0">
                <a:solidFill>
                  <a:srgbClr val="B22B15"/>
                </a:solidFill>
                <a:latin typeface="Arial"/>
                <a:cs typeface="Arial"/>
              </a:rPr>
              <a:t>	</a:t>
            </a:r>
            <a:r>
              <a:rPr sz="2000" spc="-15" dirty="0">
                <a:latin typeface="Times New Roman"/>
                <a:cs typeface="Times New Roman"/>
              </a:rPr>
              <a:t>GL_TRIANGLE_FAN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928369" y="3999229"/>
            <a:ext cx="139065" cy="27114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600" spc="-415" dirty="0">
                <a:solidFill>
                  <a:srgbClr val="FD8536"/>
                </a:solidFill>
                <a:latin typeface="Arial"/>
                <a:cs typeface="Arial"/>
              </a:rPr>
              <a:t></a:t>
            </a:r>
            <a:endParaRPr sz="16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928369" y="4522470"/>
            <a:ext cx="139065" cy="27114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600" spc="-415" dirty="0">
                <a:solidFill>
                  <a:srgbClr val="FD8536"/>
                </a:solidFill>
                <a:latin typeface="Arial"/>
                <a:cs typeface="Arial"/>
              </a:rPr>
              <a:t></a:t>
            </a:r>
            <a:endParaRPr sz="16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174750" y="3994150"/>
            <a:ext cx="7177405" cy="838200"/>
          </a:xfrm>
          <a:prstGeom prst="rect">
            <a:avLst/>
          </a:prstGeom>
        </p:spPr>
        <p:txBody>
          <a:bodyPr vert="horz" wrap="square" lIns="0" tIns="67945" rIns="0" bIns="0" rtlCol="0">
            <a:spAutoFit/>
          </a:bodyPr>
          <a:lstStyle/>
          <a:p>
            <a:pPr marL="12700" marR="5080">
              <a:lnSpc>
                <a:spcPts val="1830"/>
              </a:lnSpc>
              <a:spcBef>
                <a:spcPts val="535"/>
              </a:spcBef>
            </a:pPr>
            <a:r>
              <a:rPr sz="1900" spc="-50" dirty="0">
                <a:latin typeface="Times New Roman"/>
                <a:cs typeface="Times New Roman"/>
              </a:rPr>
              <a:t>Takes</a:t>
            </a:r>
            <a:r>
              <a:rPr sz="1900" spc="-55" dirty="0">
                <a:latin typeface="Times New Roman"/>
                <a:cs typeface="Times New Roman"/>
              </a:rPr>
              <a:t> </a:t>
            </a:r>
            <a:r>
              <a:rPr sz="1900" spc="5" dirty="0">
                <a:latin typeface="Times New Roman"/>
                <a:cs typeface="Times New Roman"/>
              </a:rPr>
              <a:t>any</a:t>
            </a:r>
            <a:r>
              <a:rPr sz="1900" spc="-55" dirty="0">
                <a:latin typeface="Times New Roman"/>
                <a:cs typeface="Times New Roman"/>
              </a:rPr>
              <a:t> </a:t>
            </a:r>
            <a:r>
              <a:rPr sz="1900" spc="70" dirty="0">
                <a:latin typeface="Times New Roman"/>
                <a:cs typeface="Times New Roman"/>
              </a:rPr>
              <a:t>number</a:t>
            </a:r>
            <a:r>
              <a:rPr sz="1900" spc="-50" dirty="0">
                <a:latin typeface="Times New Roman"/>
                <a:cs typeface="Times New Roman"/>
              </a:rPr>
              <a:t> </a:t>
            </a:r>
            <a:r>
              <a:rPr sz="1900" spc="-5" dirty="0">
                <a:latin typeface="Times New Roman"/>
                <a:cs typeface="Times New Roman"/>
              </a:rPr>
              <a:t>of</a:t>
            </a:r>
            <a:r>
              <a:rPr sz="1900" spc="-55" dirty="0">
                <a:latin typeface="Times New Roman"/>
                <a:cs typeface="Times New Roman"/>
              </a:rPr>
              <a:t> </a:t>
            </a:r>
            <a:r>
              <a:rPr sz="1900" spc="-25" dirty="0">
                <a:latin typeface="Times New Roman"/>
                <a:cs typeface="Times New Roman"/>
              </a:rPr>
              <a:t>vertices</a:t>
            </a:r>
            <a:r>
              <a:rPr sz="1900" spc="-50" dirty="0">
                <a:latin typeface="Times New Roman"/>
                <a:cs typeface="Times New Roman"/>
              </a:rPr>
              <a:t> </a:t>
            </a:r>
            <a:r>
              <a:rPr sz="1900" spc="75" dirty="0">
                <a:latin typeface="Times New Roman"/>
                <a:cs typeface="Times New Roman"/>
              </a:rPr>
              <a:t>and</a:t>
            </a:r>
            <a:r>
              <a:rPr sz="1900" spc="-50" dirty="0">
                <a:latin typeface="Times New Roman"/>
                <a:cs typeface="Times New Roman"/>
              </a:rPr>
              <a:t> </a:t>
            </a:r>
            <a:r>
              <a:rPr sz="1900" spc="5" dirty="0">
                <a:latin typeface="Times New Roman"/>
                <a:cs typeface="Times New Roman"/>
              </a:rPr>
              <a:t>draws</a:t>
            </a:r>
            <a:r>
              <a:rPr sz="1900" spc="-55" dirty="0">
                <a:latin typeface="Times New Roman"/>
                <a:cs typeface="Times New Roman"/>
              </a:rPr>
              <a:t> </a:t>
            </a:r>
            <a:r>
              <a:rPr sz="1900" spc="70" dirty="0">
                <a:latin typeface="Times New Roman"/>
                <a:cs typeface="Times New Roman"/>
              </a:rPr>
              <a:t>a</a:t>
            </a:r>
            <a:r>
              <a:rPr sz="1900" spc="-50" dirty="0">
                <a:latin typeface="Times New Roman"/>
                <a:cs typeface="Times New Roman"/>
              </a:rPr>
              <a:t> </a:t>
            </a:r>
            <a:r>
              <a:rPr sz="1900" spc="-5" dirty="0">
                <a:latin typeface="Times New Roman"/>
                <a:cs typeface="Times New Roman"/>
              </a:rPr>
              <a:t>circular</a:t>
            </a:r>
            <a:r>
              <a:rPr sz="1900" spc="-55" dirty="0">
                <a:latin typeface="Times New Roman"/>
                <a:cs typeface="Times New Roman"/>
              </a:rPr>
              <a:t> </a:t>
            </a:r>
            <a:r>
              <a:rPr sz="1900" spc="20" dirty="0">
                <a:latin typeface="Times New Roman"/>
                <a:cs typeface="Times New Roman"/>
              </a:rPr>
              <a:t>fan</a:t>
            </a:r>
            <a:r>
              <a:rPr sz="1900" spc="-50" dirty="0">
                <a:latin typeface="Times New Roman"/>
                <a:cs typeface="Times New Roman"/>
              </a:rPr>
              <a:t> </a:t>
            </a:r>
            <a:r>
              <a:rPr sz="1900" spc="-5" dirty="0">
                <a:latin typeface="Times New Roman"/>
                <a:cs typeface="Times New Roman"/>
              </a:rPr>
              <a:t>of</a:t>
            </a:r>
            <a:r>
              <a:rPr sz="1900" spc="-55" dirty="0">
                <a:latin typeface="Times New Roman"/>
                <a:cs typeface="Times New Roman"/>
              </a:rPr>
              <a:t> </a:t>
            </a:r>
            <a:r>
              <a:rPr sz="1900" spc="-10" dirty="0">
                <a:latin typeface="Times New Roman"/>
                <a:cs typeface="Times New Roman"/>
              </a:rPr>
              <a:t>triangles</a:t>
            </a:r>
            <a:r>
              <a:rPr sz="1900" spc="-5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starting  </a:t>
            </a:r>
            <a:r>
              <a:rPr sz="1900" spc="25" dirty="0">
                <a:latin typeface="Times New Roman"/>
                <a:cs typeface="Times New Roman"/>
              </a:rPr>
              <a:t>from </a:t>
            </a:r>
            <a:r>
              <a:rPr sz="1900" spc="70" dirty="0">
                <a:latin typeface="Times New Roman"/>
                <a:cs typeface="Times New Roman"/>
              </a:rPr>
              <a:t>the </a:t>
            </a:r>
            <a:r>
              <a:rPr sz="1900" spc="125" dirty="0">
                <a:latin typeface="Times New Roman"/>
                <a:cs typeface="Times New Roman"/>
              </a:rPr>
              <a:t>frst</a:t>
            </a:r>
            <a:r>
              <a:rPr sz="1900" spc="-250" dirty="0">
                <a:latin typeface="Times New Roman"/>
                <a:cs typeface="Times New Roman"/>
              </a:rPr>
              <a:t> </a:t>
            </a:r>
            <a:r>
              <a:rPr sz="1900" spc="-35" dirty="0">
                <a:latin typeface="Times New Roman"/>
                <a:cs typeface="Times New Roman"/>
              </a:rPr>
              <a:t>vertex.</a:t>
            </a:r>
            <a:endParaRPr sz="19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sz="1900" spc="35" dirty="0">
                <a:latin typeface="Times New Roman"/>
                <a:cs typeface="Times New Roman"/>
              </a:rPr>
              <a:t>Would</a:t>
            </a:r>
            <a:r>
              <a:rPr sz="1900" spc="-35" dirty="0">
                <a:latin typeface="Times New Roman"/>
                <a:cs typeface="Times New Roman"/>
              </a:rPr>
              <a:t> </a:t>
            </a:r>
            <a:r>
              <a:rPr sz="1900" spc="10" dirty="0">
                <a:latin typeface="Times New Roman"/>
                <a:cs typeface="Times New Roman"/>
              </a:rPr>
              <a:t>draw:</a:t>
            </a:r>
            <a:r>
              <a:rPr sz="1900" spc="-140" dirty="0">
                <a:latin typeface="Times New Roman"/>
                <a:cs typeface="Times New Roman"/>
              </a:rPr>
              <a:t> </a:t>
            </a:r>
            <a:r>
              <a:rPr sz="1900" spc="25" dirty="0">
                <a:latin typeface="Times New Roman"/>
                <a:cs typeface="Times New Roman"/>
              </a:rPr>
              <a:t>p0,</a:t>
            </a:r>
            <a:r>
              <a:rPr sz="1900" spc="-145" dirty="0">
                <a:latin typeface="Times New Roman"/>
                <a:cs typeface="Times New Roman"/>
              </a:rPr>
              <a:t> </a:t>
            </a:r>
            <a:r>
              <a:rPr sz="1900" spc="25" dirty="0">
                <a:latin typeface="Times New Roman"/>
                <a:cs typeface="Times New Roman"/>
              </a:rPr>
              <a:t>p1,</a:t>
            </a:r>
            <a:r>
              <a:rPr sz="1900" spc="-140" dirty="0">
                <a:latin typeface="Times New Roman"/>
                <a:cs typeface="Times New Roman"/>
              </a:rPr>
              <a:t> </a:t>
            </a:r>
            <a:r>
              <a:rPr sz="1900" spc="60" dirty="0">
                <a:latin typeface="Times New Roman"/>
                <a:cs typeface="Times New Roman"/>
              </a:rPr>
              <a:t>p2</a:t>
            </a:r>
            <a:r>
              <a:rPr sz="1900" spc="-30" dirty="0">
                <a:latin typeface="Times New Roman"/>
                <a:cs typeface="Times New Roman"/>
              </a:rPr>
              <a:t> </a:t>
            </a:r>
            <a:r>
              <a:rPr sz="1900" spc="-15" dirty="0">
                <a:latin typeface="Times New Roman"/>
                <a:cs typeface="Times New Roman"/>
              </a:rPr>
              <a:t>followed</a:t>
            </a:r>
            <a:r>
              <a:rPr sz="1900" spc="-35" dirty="0">
                <a:latin typeface="Times New Roman"/>
                <a:cs typeface="Times New Roman"/>
              </a:rPr>
              <a:t> </a:t>
            </a:r>
            <a:r>
              <a:rPr sz="1900" spc="10" dirty="0">
                <a:latin typeface="Times New Roman"/>
                <a:cs typeface="Times New Roman"/>
              </a:rPr>
              <a:t>by</a:t>
            </a:r>
            <a:r>
              <a:rPr sz="1900" spc="-35" dirty="0">
                <a:latin typeface="Times New Roman"/>
                <a:cs typeface="Times New Roman"/>
              </a:rPr>
              <a:t> </a:t>
            </a:r>
            <a:r>
              <a:rPr sz="1900" spc="25" dirty="0">
                <a:latin typeface="Times New Roman"/>
                <a:cs typeface="Times New Roman"/>
              </a:rPr>
              <a:t>p0,</a:t>
            </a:r>
            <a:r>
              <a:rPr sz="1900" spc="-140" dirty="0">
                <a:latin typeface="Times New Roman"/>
                <a:cs typeface="Times New Roman"/>
              </a:rPr>
              <a:t> </a:t>
            </a:r>
            <a:r>
              <a:rPr sz="1900" spc="25" dirty="0">
                <a:latin typeface="Times New Roman"/>
                <a:cs typeface="Times New Roman"/>
              </a:rPr>
              <a:t>p2,</a:t>
            </a:r>
            <a:r>
              <a:rPr sz="1900" spc="-145" dirty="0">
                <a:latin typeface="Times New Roman"/>
                <a:cs typeface="Times New Roman"/>
              </a:rPr>
              <a:t> </a:t>
            </a:r>
            <a:r>
              <a:rPr sz="1900" spc="60" dirty="0">
                <a:latin typeface="Times New Roman"/>
                <a:cs typeface="Times New Roman"/>
              </a:rPr>
              <a:t>p3</a:t>
            </a:r>
            <a:r>
              <a:rPr sz="1900" spc="-30" dirty="0">
                <a:latin typeface="Times New Roman"/>
                <a:cs typeface="Times New Roman"/>
              </a:rPr>
              <a:t> </a:t>
            </a:r>
            <a:r>
              <a:rPr sz="1900" spc="-15" dirty="0">
                <a:latin typeface="Times New Roman"/>
                <a:cs typeface="Times New Roman"/>
              </a:rPr>
              <a:t>followed</a:t>
            </a:r>
            <a:r>
              <a:rPr sz="1900" spc="-30" dirty="0">
                <a:latin typeface="Times New Roman"/>
                <a:cs typeface="Times New Roman"/>
              </a:rPr>
              <a:t> </a:t>
            </a:r>
            <a:r>
              <a:rPr sz="1900" spc="10" dirty="0">
                <a:latin typeface="Times New Roman"/>
                <a:cs typeface="Times New Roman"/>
              </a:rPr>
              <a:t>by</a:t>
            </a:r>
            <a:r>
              <a:rPr sz="1900" spc="-40" dirty="0">
                <a:latin typeface="Times New Roman"/>
                <a:cs typeface="Times New Roman"/>
              </a:rPr>
              <a:t> </a:t>
            </a:r>
            <a:r>
              <a:rPr sz="1900" spc="25" dirty="0">
                <a:latin typeface="Times New Roman"/>
                <a:cs typeface="Times New Roman"/>
              </a:rPr>
              <a:t>p0,</a:t>
            </a:r>
            <a:r>
              <a:rPr sz="1900" spc="-140" dirty="0">
                <a:latin typeface="Times New Roman"/>
                <a:cs typeface="Times New Roman"/>
              </a:rPr>
              <a:t> </a:t>
            </a:r>
            <a:r>
              <a:rPr sz="1900" spc="25" dirty="0">
                <a:latin typeface="Times New Roman"/>
                <a:cs typeface="Times New Roman"/>
              </a:rPr>
              <a:t>p3,</a:t>
            </a:r>
            <a:r>
              <a:rPr sz="1900" spc="-145" dirty="0">
                <a:latin typeface="Times New Roman"/>
                <a:cs typeface="Times New Roman"/>
              </a:rPr>
              <a:t> </a:t>
            </a:r>
            <a:r>
              <a:rPr sz="1900" spc="60" dirty="0">
                <a:latin typeface="Times New Roman"/>
                <a:cs typeface="Times New Roman"/>
              </a:rPr>
              <a:t>p4</a:t>
            </a:r>
            <a:r>
              <a:rPr sz="1900" spc="-3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…</a:t>
            </a:r>
            <a:endParaRPr sz="19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1066800" y="5181600"/>
            <a:ext cx="7150100" cy="12192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4500" y="1073150"/>
            <a:ext cx="3591560" cy="787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05" dirty="0"/>
              <a:t>Display</a:t>
            </a:r>
            <a:r>
              <a:rPr spc="-5" dirty="0"/>
              <a:t> </a:t>
            </a:r>
            <a:r>
              <a:rPr spc="145" dirty="0"/>
              <a:t>Lists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4669" y="1968500"/>
            <a:ext cx="8075931" cy="29629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5750" marR="5080" indent="-273050">
              <a:lnSpc>
                <a:spcPct val="100000"/>
              </a:lnSpc>
              <a:spcBef>
                <a:spcPts val="100"/>
              </a:spcBef>
              <a:buClr>
                <a:srgbClr val="B22B15"/>
              </a:buClr>
              <a:buSzPct val="94230"/>
              <a:buFont typeface="Arial"/>
              <a:buChar char=""/>
              <a:tabLst>
                <a:tab pos="285750" algn="l"/>
              </a:tabLst>
            </a:pPr>
            <a:r>
              <a:rPr sz="2600" spc="135" dirty="0">
                <a:latin typeface="Times New Roman"/>
                <a:cs typeface="Times New Roman"/>
              </a:rPr>
              <a:t>One</a:t>
            </a:r>
            <a:r>
              <a:rPr sz="2600" spc="-90" dirty="0">
                <a:latin typeface="Times New Roman"/>
                <a:cs typeface="Times New Roman"/>
              </a:rPr>
              <a:t> </a:t>
            </a:r>
            <a:r>
              <a:rPr sz="2600" spc="35" dirty="0">
                <a:latin typeface="Times New Roman"/>
                <a:cs typeface="Times New Roman"/>
              </a:rPr>
              <a:t>thing</a:t>
            </a:r>
            <a:r>
              <a:rPr sz="2600" spc="-85" dirty="0">
                <a:latin typeface="Times New Roman"/>
                <a:cs typeface="Times New Roman"/>
              </a:rPr>
              <a:t> </a:t>
            </a:r>
            <a:r>
              <a:rPr sz="2600" spc="60" dirty="0">
                <a:latin typeface="Times New Roman"/>
                <a:cs typeface="Times New Roman"/>
              </a:rPr>
              <a:t>to</a:t>
            </a:r>
            <a:r>
              <a:rPr sz="2600" spc="-80" dirty="0">
                <a:latin typeface="Times New Roman"/>
                <a:cs typeface="Times New Roman"/>
              </a:rPr>
              <a:t> </a:t>
            </a:r>
            <a:r>
              <a:rPr sz="2600" spc="60" dirty="0">
                <a:latin typeface="Times New Roman"/>
                <a:cs typeface="Times New Roman"/>
              </a:rPr>
              <a:t>note</a:t>
            </a:r>
            <a:r>
              <a:rPr sz="2600" spc="-85" dirty="0">
                <a:latin typeface="Times New Roman"/>
                <a:cs typeface="Times New Roman"/>
              </a:rPr>
              <a:t> </a:t>
            </a:r>
            <a:r>
              <a:rPr sz="2600" spc="40" dirty="0">
                <a:latin typeface="Times New Roman"/>
                <a:cs typeface="Times New Roman"/>
              </a:rPr>
              <a:t>about</a:t>
            </a:r>
            <a:r>
              <a:rPr sz="2600" spc="-8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drawing</a:t>
            </a:r>
            <a:r>
              <a:rPr sz="2600" spc="-85" dirty="0">
                <a:latin typeface="Times New Roman"/>
                <a:cs typeface="Times New Roman"/>
              </a:rPr>
              <a:t> </a:t>
            </a:r>
            <a:r>
              <a:rPr sz="2600" spc="-35" dirty="0">
                <a:latin typeface="Times New Roman"/>
                <a:cs typeface="Times New Roman"/>
              </a:rPr>
              <a:t>primitives</a:t>
            </a:r>
            <a:r>
              <a:rPr sz="2600" spc="-85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Times New Roman"/>
                <a:cs typeface="Times New Roman"/>
              </a:rPr>
              <a:t>is</a:t>
            </a:r>
            <a:r>
              <a:rPr sz="2600" spc="-80" dirty="0">
                <a:latin typeface="Times New Roman"/>
                <a:cs typeface="Times New Roman"/>
              </a:rPr>
              <a:t> </a:t>
            </a:r>
            <a:r>
              <a:rPr sz="2600" spc="45" dirty="0">
                <a:latin typeface="Times New Roman"/>
                <a:cs typeface="Times New Roman"/>
              </a:rPr>
              <a:t>that</a:t>
            </a:r>
            <a:r>
              <a:rPr sz="2600" spc="-8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we</a:t>
            </a:r>
            <a:r>
              <a:rPr sz="2600" spc="-85" dirty="0">
                <a:latin typeface="Times New Roman"/>
                <a:cs typeface="Times New Roman"/>
              </a:rPr>
              <a:t> </a:t>
            </a:r>
            <a:r>
              <a:rPr sz="2600" spc="-180" dirty="0">
                <a:latin typeface="Times New Roman"/>
                <a:cs typeface="Times New Roman"/>
              </a:rPr>
              <a:t>wi</a:t>
            </a:r>
            <a:r>
              <a:rPr lang="en-US" sz="2600" spc="-180" dirty="0">
                <a:latin typeface="Times New Roman"/>
                <a:cs typeface="Times New Roman"/>
              </a:rPr>
              <a:t>ll </a:t>
            </a:r>
            <a:r>
              <a:rPr sz="2600" spc="5" dirty="0">
                <a:latin typeface="Times New Roman"/>
                <a:cs typeface="Times New Roman"/>
              </a:rPr>
              <a:t>often </a:t>
            </a:r>
            <a:r>
              <a:rPr sz="2600" spc="10" dirty="0">
                <a:latin typeface="Times New Roman"/>
                <a:cs typeface="Times New Roman"/>
              </a:rPr>
              <a:t>draw </a:t>
            </a:r>
            <a:r>
              <a:rPr sz="2600" spc="80" dirty="0">
                <a:latin typeface="Times New Roman"/>
                <a:cs typeface="Times New Roman"/>
              </a:rPr>
              <a:t>them </a:t>
            </a:r>
            <a:r>
              <a:rPr sz="2600" spc="10" dirty="0">
                <a:latin typeface="Times New Roman"/>
                <a:cs typeface="Times New Roman"/>
              </a:rPr>
              <a:t>many</a:t>
            </a:r>
            <a:r>
              <a:rPr sz="2600" spc="-470" dirty="0">
                <a:latin typeface="Times New Roman"/>
                <a:cs typeface="Times New Roman"/>
              </a:rPr>
              <a:t> </a:t>
            </a:r>
            <a:r>
              <a:rPr sz="2600" spc="-30" dirty="0">
                <a:latin typeface="Times New Roman"/>
                <a:cs typeface="Times New Roman"/>
              </a:rPr>
              <a:t>times.</a:t>
            </a:r>
            <a:endParaRPr sz="2600" dirty="0">
              <a:latin typeface="Times New Roman"/>
              <a:cs typeface="Times New Roman"/>
            </a:endParaRPr>
          </a:p>
          <a:p>
            <a:pPr marL="285750" marR="187325" indent="-273050">
              <a:lnSpc>
                <a:spcPct val="100000"/>
              </a:lnSpc>
              <a:spcBef>
                <a:spcPts val="640"/>
              </a:spcBef>
              <a:buClr>
                <a:srgbClr val="B22B15"/>
              </a:buClr>
              <a:buSzPct val="94230"/>
              <a:buFont typeface="Arial"/>
              <a:buChar char=""/>
              <a:tabLst>
                <a:tab pos="285750" algn="l"/>
              </a:tabLst>
            </a:pPr>
            <a:r>
              <a:rPr sz="2600" spc="135" dirty="0">
                <a:latin typeface="Times New Roman"/>
                <a:cs typeface="Times New Roman"/>
              </a:rPr>
              <a:t>One</a:t>
            </a:r>
            <a:r>
              <a:rPr sz="2600" spc="-85" dirty="0">
                <a:latin typeface="Times New Roman"/>
                <a:cs typeface="Times New Roman"/>
              </a:rPr>
              <a:t> </a:t>
            </a:r>
            <a:r>
              <a:rPr sz="2600" spc="-100" dirty="0">
                <a:latin typeface="Times New Roman"/>
                <a:cs typeface="Times New Roman"/>
              </a:rPr>
              <a:t>way</a:t>
            </a:r>
            <a:r>
              <a:rPr sz="2600" spc="-85" dirty="0">
                <a:latin typeface="Times New Roman"/>
                <a:cs typeface="Times New Roman"/>
              </a:rPr>
              <a:t> </a:t>
            </a:r>
            <a:r>
              <a:rPr sz="2600" spc="60" dirty="0">
                <a:latin typeface="Times New Roman"/>
                <a:cs typeface="Times New Roman"/>
              </a:rPr>
              <a:t>to</a:t>
            </a:r>
            <a:r>
              <a:rPr sz="2600" spc="-80" dirty="0">
                <a:latin typeface="Times New Roman"/>
                <a:cs typeface="Times New Roman"/>
              </a:rPr>
              <a:t> </a:t>
            </a:r>
            <a:r>
              <a:rPr sz="2600" spc="-25" dirty="0">
                <a:latin typeface="Times New Roman"/>
                <a:cs typeface="Times New Roman"/>
              </a:rPr>
              <a:t>optimize</a:t>
            </a:r>
            <a:r>
              <a:rPr sz="2600" spc="-80" dirty="0">
                <a:latin typeface="Times New Roman"/>
                <a:cs typeface="Times New Roman"/>
              </a:rPr>
              <a:t> </a:t>
            </a:r>
            <a:r>
              <a:rPr sz="2600" spc="-5" dirty="0">
                <a:latin typeface="Times New Roman"/>
                <a:cs typeface="Times New Roman"/>
              </a:rPr>
              <a:t>drawing</a:t>
            </a:r>
            <a:r>
              <a:rPr sz="2600" spc="-85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Times New Roman"/>
                <a:cs typeface="Times New Roman"/>
              </a:rPr>
              <a:t>objects</a:t>
            </a:r>
            <a:r>
              <a:rPr sz="2600" spc="-80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Times New Roman"/>
                <a:cs typeface="Times New Roman"/>
              </a:rPr>
              <a:t>is</a:t>
            </a:r>
            <a:r>
              <a:rPr sz="2600" spc="-80" dirty="0">
                <a:latin typeface="Times New Roman"/>
                <a:cs typeface="Times New Roman"/>
              </a:rPr>
              <a:t> </a:t>
            </a:r>
            <a:r>
              <a:rPr sz="2600" spc="60" dirty="0">
                <a:latin typeface="Times New Roman"/>
                <a:cs typeface="Times New Roman"/>
              </a:rPr>
              <a:t>to</a:t>
            </a:r>
            <a:r>
              <a:rPr sz="2600" spc="-75" dirty="0">
                <a:latin typeface="Times New Roman"/>
                <a:cs typeface="Times New Roman"/>
              </a:rPr>
              <a:t> </a:t>
            </a:r>
            <a:r>
              <a:rPr sz="2600" spc="15" dirty="0">
                <a:latin typeface="Times New Roman"/>
                <a:cs typeface="Times New Roman"/>
              </a:rPr>
              <a:t>store</a:t>
            </a:r>
            <a:r>
              <a:rPr sz="2600" spc="-85" dirty="0">
                <a:latin typeface="Times New Roman"/>
                <a:cs typeface="Times New Roman"/>
              </a:rPr>
              <a:t> </a:t>
            </a:r>
            <a:r>
              <a:rPr sz="2600" spc="80" dirty="0">
                <a:latin typeface="Times New Roman"/>
                <a:cs typeface="Times New Roman"/>
              </a:rPr>
              <a:t>them</a:t>
            </a:r>
            <a:r>
              <a:rPr sz="2600" spc="-85" dirty="0">
                <a:latin typeface="Times New Roman"/>
                <a:cs typeface="Times New Roman"/>
              </a:rPr>
              <a:t> </a:t>
            </a:r>
            <a:r>
              <a:rPr sz="2600" spc="-95" dirty="0">
                <a:latin typeface="Times New Roman"/>
                <a:cs typeface="Times New Roman"/>
              </a:rPr>
              <a:t>in  </a:t>
            </a:r>
            <a:r>
              <a:rPr sz="2600" spc="125" dirty="0">
                <a:latin typeface="Times New Roman"/>
                <a:cs typeface="Times New Roman"/>
              </a:rPr>
              <a:t>an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25" dirty="0">
                <a:latin typeface="Times New Roman"/>
                <a:cs typeface="Times New Roman"/>
              </a:rPr>
              <a:t>object</a:t>
            </a:r>
            <a:r>
              <a:rPr sz="2600" spc="-55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Times New Roman"/>
                <a:cs typeface="Times New Roman"/>
              </a:rPr>
              <a:t>ca</a:t>
            </a:r>
            <a:r>
              <a:rPr lang="en-US" sz="2600" spc="-10" dirty="0">
                <a:latin typeface="Times New Roman"/>
                <a:cs typeface="Times New Roman"/>
              </a:rPr>
              <a:t>ll</a:t>
            </a:r>
            <a:r>
              <a:rPr sz="2600" spc="125" dirty="0">
                <a:latin typeface="Times New Roman"/>
                <a:cs typeface="Times New Roman"/>
              </a:rPr>
              <a:t>ed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95" dirty="0">
                <a:latin typeface="Times New Roman"/>
                <a:cs typeface="Times New Roman"/>
              </a:rPr>
              <a:t>a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20" dirty="0">
                <a:latin typeface="Times New Roman"/>
                <a:cs typeface="Times New Roman"/>
              </a:rPr>
              <a:t>display</a:t>
            </a:r>
            <a:r>
              <a:rPr sz="2600" spc="-60" dirty="0">
                <a:latin typeface="Times New Roman"/>
                <a:cs typeface="Times New Roman"/>
              </a:rPr>
              <a:t> </a:t>
            </a:r>
            <a:r>
              <a:rPr sz="2600" spc="-25" dirty="0">
                <a:latin typeface="Times New Roman"/>
                <a:cs typeface="Times New Roman"/>
              </a:rPr>
              <a:t>list.</a:t>
            </a:r>
            <a:endParaRPr sz="2600" dirty="0">
              <a:latin typeface="Times New Roman"/>
              <a:cs typeface="Times New Roman"/>
            </a:endParaRPr>
          </a:p>
          <a:p>
            <a:pPr marL="285750" marR="425450" indent="-273050" algn="just">
              <a:lnSpc>
                <a:spcPct val="100000"/>
              </a:lnSpc>
              <a:spcBef>
                <a:spcPts val="650"/>
              </a:spcBef>
              <a:buClr>
                <a:srgbClr val="B22B15"/>
              </a:buClr>
              <a:buSzPct val="94230"/>
              <a:buFont typeface="Arial"/>
              <a:buChar char=""/>
              <a:tabLst>
                <a:tab pos="285750" algn="l"/>
              </a:tabLst>
            </a:pPr>
            <a:r>
              <a:rPr sz="2600" spc="-35" dirty="0">
                <a:latin typeface="Times New Roman"/>
                <a:cs typeface="Times New Roman"/>
              </a:rPr>
              <a:t>Basica</a:t>
            </a:r>
            <a:r>
              <a:rPr lang="en-US" sz="2600" spc="-35" dirty="0">
                <a:latin typeface="Times New Roman"/>
                <a:cs typeface="Times New Roman"/>
              </a:rPr>
              <a:t>ll</a:t>
            </a:r>
            <a:r>
              <a:rPr sz="2600" spc="-200" dirty="0">
                <a:latin typeface="Times New Roman"/>
                <a:cs typeface="Times New Roman"/>
              </a:rPr>
              <a:t>y,</a:t>
            </a:r>
            <a:r>
              <a:rPr sz="2600" spc="-195" dirty="0">
                <a:latin typeface="Times New Roman"/>
                <a:cs typeface="Times New Roman"/>
              </a:rPr>
              <a:t> </a:t>
            </a:r>
            <a:r>
              <a:rPr sz="2600" spc="95" dirty="0">
                <a:latin typeface="Times New Roman"/>
                <a:cs typeface="Times New Roman"/>
              </a:rPr>
              <a:t>a</a:t>
            </a:r>
            <a:r>
              <a:rPr sz="2600" spc="-50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Times New Roman"/>
                <a:cs typeface="Times New Roman"/>
              </a:rPr>
              <a:t>display</a:t>
            </a:r>
            <a:r>
              <a:rPr sz="2600" spc="-45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Times New Roman"/>
                <a:cs typeface="Times New Roman"/>
              </a:rPr>
              <a:t>list</a:t>
            </a:r>
            <a:r>
              <a:rPr sz="2600" spc="-45" dirty="0">
                <a:latin typeface="Times New Roman"/>
                <a:cs typeface="Times New Roman"/>
              </a:rPr>
              <a:t> </a:t>
            </a:r>
            <a:r>
              <a:rPr sz="2600" spc="20" dirty="0">
                <a:latin typeface="Times New Roman"/>
                <a:cs typeface="Times New Roman"/>
              </a:rPr>
              <a:t>provides</a:t>
            </a:r>
            <a:r>
              <a:rPr sz="2600" spc="-50" dirty="0">
                <a:latin typeface="Times New Roman"/>
                <a:cs typeface="Times New Roman"/>
              </a:rPr>
              <a:t> </a:t>
            </a:r>
            <a:r>
              <a:rPr sz="2600" spc="95" dirty="0">
                <a:latin typeface="Times New Roman"/>
                <a:cs typeface="Times New Roman"/>
              </a:rPr>
              <a:t>a</a:t>
            </a:r>
            <a:r>
              <a:rPr sz="2600" spc="-50" dirty="0">
                <a:latin typeface="Times New Roman"/>
                <a:cs typeface="Times New Roman"/>
              </a:rPr>
              <a:t> </a:t>
            </a:r>
            <a:r>
              <a:rPr sz="2600" spc="-75" dirty="0">
                <a:latin typeface="Times New Roman"/>
                <a:cs typeface="Times New Roman"/>
              </a:rPr>
              <a:t>way</a:t>
            </a:r>
            <a:r>
              <a:rPr sz="2600" spc="-45" dirty="0">
                <a:latin typeface="Times New Roman"/>
                <a:cs typeface="Times New Roman"/>
              </a:rPr>
              <a:t> </a:t>
            </a:r>
            <a:r>
              <a:rPr sz="2600" spc="20" dirty="0">
                <a:latin typeface="Times New Roman"/>
                <a:cs typeface="Times New Roman"/>
              </a:rPr>
              <a:t>for</a:t>
            </a:r>
            <a:r>
              <a:rPr sz="2600" spc="-50" dirty="0">
                <a:latin typeface="Times New Roman"/>
                <a:cs typeface="Times New Roman"/>
              </a:rPr>
              <a:t> </a:t>
            </a:r>
            <a:r>
              <a:rPr sz="2600" spc="120" dirty="0">
                <a:latin typeface="Times New Roman"/>
                <a:cs typeface="Times New Roman"/>
              </a:rPr>
              <a:t>OpenGL</a:t>
            </a:r>
            <a:r>
              <a:rPr sz="2600" spc="-50" dirty="0">
                <a:latin typeface="Times New Roman"/>
                <a:cs typeface="Times New Roman"/>
              </a:rPr>
              <a:t> </a:t>
            </a:r>
            <a:r>
              <a:rPr sz="2600" spc="-130" dirty="0">
                <a:latin typeface="Times New Roman"/>
                <a:cs typeface="Times New Roman"/>
              </a:rPr>
              <a:t>to  </a:t>
            </a:r>
            <a:r>
              <a:rPr sz="2600" spc="40" dirty="0">
                <a:latin typeface="Times New Roman"/>
                <a:cs typeface="Times New Roman"/>
              </a:rPr>
              <a:t>remember</a:t>
            </a:r>
            <a:r>
              <a:rPr sz="2600" spc="-105" dirty="0">
                <a:latin typeface="Times New Roman"/>
                <a:cs typeface="Times New Roman"/>
              </a:rPr>
              <a:t> </a:t>
            </a:r>
            <a:r>
              <a:rPr sz="2600" spc="75" dirty="0">
                <a:latin typeface="Times New Roman"/>
                <a:cs typeface="Times New Roman"/>
              </a:rPr>
              <a:t>the</a:t>
            </a:r>
            <a:r>
              <a:rPr sz="2600" spc="-105" dirty="0">
                <a:latin typeface="Times New Roman"/>
                <a:cs typeface="Times New Roman"/>
              </a:rPr>
              <a:t> </a:t>
            </a:r>
            <a:r>
              <a:rPr sz="2600" spc="-60" dirty="0">
                <a:latin typeface="Times New Roman"/>
                <a:cs typeface="Times New Roman"/>
              </a:rPr>
              <a:t>exact</a:t>
            </a:r>
            <a:r>
              <a:rPr sz="2600" spc="-95" dirty="0">
                <a:latin typeface="Times New Roman"/>
                <a:cs typeface="Times New Roman"/>
              </a:rPr>
              <a:t> </a:t>
            </a:r>
            <a:r>
              <a:rPr sz="2600" spc="-110" dirty="0">
                <a:latin typeface="Times New Roman"/>
                <a:cs typeface="Times New Roman"/>
              </a:rPr>
              <a:t>way</a:t>
            </a:r>
            <a:r>
              <a:rPr sz="2600" spc="-105" dirty="0">
                <a:latin typeface="Times New Roman"/>
                <a:cs typeface="Times New Roman"/>
              </a:rPr>
              <a:t> </a:t>
            </a:r>
            <a:r>
              <a:rPr sz="2600" spc="5" dirty="0">
                <a:latin typeface="Times New Roman"/>
                <a:cs typeface="Times New Roman"/>
              </a:rPr>
              <a:t>something</a:t>
            </a:r>
            <a:r>
              <a:rPr sz="2600" spc="-100" dirty="0">
                <a:latin typeface="Times New Roman"/>
                <a:cs typeface="Times New Roman"/>
              </a:rPr>
              <a:t> </a:t>
            </a:r>
            <a:r>
              <a:rPr sz="2600" spc="-15" dirty="0">
                <a:latin typeface="Times New Roman"/>
                <a:cs typeface="Times New Roman"/>
              </a:rPr>
              <a:t>is</a:t>
            </a:r>
            <a:r>
              <a:rPr sz="2600" spc="-105" dirty="0">
                <a:latin typeface="Times New Roman"/>
                <a:cs typeface="Times New Roman"/>
              </a:rPr>
              <a:t> </a:t>
            </a:r>
            <a:r>
              <a:rPr sz="2600" spc="25" dirty="0">
                <a:latin typeface="Times New Roman"/>
                <a:cs typeface="Times New Roman"/>
              </a:rPr>
              <a:t>drawn</a:t>
            </a:r>
            <a:r>
              <a:rPr sz="2600" spc="-100" dirty="0">
                <a:latin typeface="Times New Roman"/>
                <a:cs typeface="Times New Roman"/>
              </a:rPr>
              <a:t> </a:t>
            </a:r>
            <a:r>
              <a:rPr sz="2600" spc="90" dirty="0">
                <a:latin typeface="Times New Roman"/>
                <a:cs typeface="Times New Roman"/>
              </a:rPr>
              <a:t>and</a:t>
            </a:r>
            <a:r>
              <a:rPr sz="2600" spc="-110" dirty="0">
                <a:latin typeface="Times New Roman"/>
                <a:cs typeface="Times New Roman"/>
              </a:rPr>
              <a:t> </a:t>
            </a:r>
            <a:r>
              <a:rPr sz="2600" spc="85" dirty="0">
                <a:latin typeface="Times New Roman"/>
                <a:cs typeface="Times New Roman"/>
              </a:rPr>
              <a:t>then  </a:t>
            </a:r>
            <a:r>
              <a:rPr sz="2600" spc="20" dirty="0">
                <a:latin typeface="Times New Roman"/>
                <a:cs typeface="Times New Roman"/>
              </a:rPr>
              <a:t>redraw </a:t>
            </a:r>
            <a:r>
              <a:rPr sz="2600" spc="15" dirty="0">
                <a:latin typeface="Times New Roman"/>
                <a:cs typeface="Times New Roman"/>
              </a:rPr>
              <a:t>it</a:t>
            </a:r>
            <a:r>
              <a:rPr sz="2600" spc="35" dirty="0">
                <a:latin typeface="Times New Roman"/>
                <a:cs typeface="Times New Roman"/>
              </a:rPr>
              <a:t>.</a:t>
            </a:r>
            <a:endParaRPr sz="26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4500" y="1073150"/>
            <a:ext cx="4189729" cy="787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315" dirty="0"/>
              <a:t>Code</a:t>
            </a:r>
            <a:r>
              <a:rPr spc="70" dirty="0"/>
              <a:t> </a:t>
            </a:r>
            <a:r>
              <a:rPr spc="254" dirty="0"/>
              <a:t>Example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4669" y="1925320"/>
            <a:ext cx="3951604" cy="473661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454025">
              <a:lnSpc>
                <a:spcPct val="100000"/>
              </a:lnSpc>
              <a:spcBef>
                <a:spcPts val="100"/>
              </a:spcBef>
            </a:pPr>
            <a:r>
              <a:rPr sz="1400" spc="15" dirty="0">
                <a:latin typeface="Times New Roman"/>
                <a:cs typeface="Times New Roman"/>
              </a:rPr>
              <a:t>//Some</a:t>
            </a:r>
            <a:r>
              <a:rPr sz="1400" spc="-45" dirty="0">
                <a:latin typeface="Times New Roman"/>
                <a:cs typeface="Times New Roman"/>
              </a:rPr>
              <a:t> </a:t>
            </a:r>
            <a:r>
              <a:rPr sz="1400" spc="40" dirty="0">
                <a:latin typeface="Times New Roman"/>
                <a:cs typeface="Times New Roman"/>
              </a:rPr>
              <a:t>method</a:t>
            </a:r>
            <a:r>
              <a:rPr sz="1400" spc="-45" dirty="0">
                <a:latin typeface="Times New Roman"/>
                <a:cs typeface="Times New Roman"/>
              </a:rPr>
              <a:t> </a:t>
            </a:r>
            <a:r>
              <a:rPr sz="1400" spc="-10" dirty="0">
                <a:latin typeface="Times New Roman"/>
                <a:cs typeface="Times New Roman"/>
              </a:rPr>
              <a:t>called</a:t>
            </a:r>
            <a:r>
              <a:rPr sz="1400" spc="-45" dirty="0">
                <a:latin typeface="Times New Roman"/>
                <a:cs typeface="Times New Roman"/>
              </a:rPr>
              <a:t> </a:t>
            </a:r>
            <a:r>
              <a:rPr sz="1400" spc="35" dirty="0">
                <a:latin typeface="Times New Roman"/>
                <a:cs typeface="Times New Roman"/>
              </a:rPr>
              <a:t>to</a:t>
            </a:r>
            <a:r>
              <a:rPr sz="1400" spc="-40" dirty="0">
                <a:latin typeface="Times New Roman"/>
                <a:cs typeface="Times New Roman"/>
              </a:rPr>
              <a:t> </a:t>
            </a:r>
            <a:r>
              <a:rPr sz="1400" spc="-25" dirty="0">
                <a:latin typeface="Times New Roman"/>
                <a:cs typeface="Times New Roman"/>
              </a:rPr>
              <a:t>initialize</a:t>
            </a:r>
            <a:r>
              <a:rPr sz="1400" spc="-45" dirty="0">
                <a:latin typeface="Times New Roman"/>
                <a:cs typeface="Times New Roman"/>
              </a:rPr>
              <a:t> </a:t>
            </a:r>
            <a:r>
              <a:rPr sz="1400" dirty="0">
                <a:latin typeface="Times New Roman"/>
                <a:cs typeface="Times New Roman"/>
              </a:rPr>
              <a:t>objects</a:t>
            </a:r>
            <a:r>
              <a:rPr sz="1400" spc="-40" dirty="0">
                <a:latin typeface="Times New Roman"/>
                <a:cs typeface="Times New Roman"/>
              </a:rPr>
              <a:t> </a:t>
            </a:r>
            <a:r>
              <a:rPr sz="1400" spc="20" dirty="0">
                <a:latin typeface="Times New Roman"/>
                <a:cs typeface="Times New Roman"/>
              </a:rPr>
              <a:t>at</a:t>
            </a:r>
            <a:r>
              <a:rPr sz="1400" spc="-40" dirty="0">
                <a:latin typeface="Times New Roman"/>
                <a:cs typeface="Times New Roman"/>
              </a:rPr>
              <a:t> </a:t>
            </a:r>
            <a:r>
              <a:rPr sz="1400" spc="5" dirty="0">
                <a:latin typeface="Times New Roman"/>
                <a:cs typeface="Times New Roman"/>
              </a:rPr>
              <a:t>start  </a:t>
            </a:r>
            <a:r>
              <a:rPr sz="1400" spc="-5" dirty="0">
                <a:latin typeface="Times New Roman"/>
                <a:cs typeface="Times New Roman"/>
              </a:rPr>
              <a:t>void</a:t>
            </a:r>
            <a:r>
              <a:rPr sz="1400" spc="-35" dirty="0">
                <a:latin typeface="Times New Roman"/>
                <a:cs typeface="Times New Roman"/>
              </a:rPr>
              <a:t> </a:t>
            </a:r>
            <a:r>
              <a:rPr lang="en-US" sz="1400" spc="-35" dirty="0">
                <a:latin typeface="Times New Roman"/>
                <a:cs typeface="Times New Roman"/>
              </a:rPr>
              <a:t>display()</a:t>
            </a:r>
            <a:r>
              <a:rPr sz="1400" dirty="0">
                <a:latin typeface="Times New Roman"/>
                <a:cs typeface="Times New Roman"/>
              </a:rPr>
              <a:t>{</a:t>
            </a:r>
          </a:p>
          <a:p>
            <a:r>
              <a:rPr lang="en-US" dirty="0" err="1"/>
              <a:t>glClear</a:t>
            </a:r>
            <a:r>
              <a:rPr lang="en-US" dirty="0"/>
              <a:t> (GL_COLOR_BUFFER_BIT);</a:t>
            </a:r>
          </a:p>
          <a:p>
            <a:r>
              <a:rPr lang="en-US" dirty="0"/>
              <a:t>glColor3f (1.0, 0.25, 1.0); </a:t>
            </a:r>
          </a:p>
          <a:p>
            <a:pPr marL="927100">
              <a:lnSpc>
                <a:spcPct val="100000"/>
              </a:lnSpc>
              <a:spcBef>
                <a:spcPts val="10"/>
              </a:spcBef>
            </a:pPr>
            <a:r>
              <a:rPr sz="1400" dirty="0" err="1">
                <a:latin typeface="Times New Roman"/>
                <a:cs typeface="Times New Roman"/>
              </a:rPr>
              <a:t>glBegin</a:t>
            </a:r>
            <a:r>
              <a:rPr sz="1400" dirty="0">
                <a:latin typeface="Times New Roman"/>
                <a:cs typeface="Times New Roman"/>
              </a:rPr>
              <a:t>(GL_QUADS);</a:t>
            </a:r>
          </a:p>
          <a:p>
            <a:pPr marL="1841500">
              <a:lnSpc>
                <a:spcPct val="100000"/>
              </a:lnSpc>
              <a:spcBef>
                <a:spcPts val="10"/>
              </a:spcBef>
            </a:pPr>
            <a:r>
              <a:rPr sz="1400" spc="-5" dirty="0">
                <a:latin typeface="Times New Roman"/>
                <a:cs typeface="Times New Roman"/>
              </a:rPr>
              <a:t>glVertex2f(0.0,</a:t>
            </a:r>
            <a:r>
              <a:rPr sz="1400" spc="-120" dirty="0">
                <a:latin typeface="Times New Roman"/>
                <a:cs typeface="Times New Roman"/>
              </a:rPr>
              <a:t> </a:t>
            </a:r>
            <a:r>
              <a:rPr sz="1400" spc="-15" dirty="0">
                <a:latin typeface="Times New Roman"/>
                <a:cs typeface="Times New Roman"/>
              </a:rPr>
              <a:t>0.0);</a:t>
            </a:r>
            <a:endParaRPr sz="1400" dirty="0">
              <a:latin typeface="Times New Roman"/>
              <a:cs typeface="Times New Roman"/>
            </a:endParaRPr>
          </a:p>
          <a:p>
            <a:pPr marL="1841500">
              <a:lnSpc>
                <a:spcPct val="100000"/>
              </a:lnSpc>
              <a:spcBef>
                <a:spcPts val="10"/>
              </a:spcBef>
            </a:pPr>
            <a:r>
              <a:rPr sz="1400" spc="-5" dirty="0">
                <a:latin typeface="Times New Roman"/>
                <a:cs typeface="Times New Roman"/>
              </a:rPr>
              <a:t>glVertex2f(0.0,</a:t>
            </a:r>
            <a:r>
              <a:rPr sz="1400" spc="-120" dirty="0">
                <a:latin typeface="Times New Roman"/>
                <a:cs typeface="Times New Roman"/>
              </a:rPr>
              <a:t> </a:t>
            </a:r>
            <a:r>
              <a:rPr sz="1400" spc="-15" dirty="0">
                <a:latin typeface="Times New Roman"/>
                <a:cs typeface="Times New Roman"/>
              </a:rPr>
              <a:t>1.0);</a:t>
            </a:r>
            <a:endParaRPr sz="1400" dirty="0">
              <a:latin typeface="Times New Roman"/>
              <a:cs typeface="Times New Roman"/>
            </a:endParaRPr>
          </a:p>
          <a:p>
            <a:pPr marL="1841500">
              <a:lnSpc>
                <a:spcPct val="100000"/>
              </a:lnSpc>
              <a:spcBef>
                <a:spcPts val="10"/>
              </a:spcBef>
            </a:pPr>
            <a:r>
              <a:rPr sz="1400" spc="-5" dirty="0">
                <a:latin typeface="Times New Roman"/>
                <a:cs typeface="Times New Roman"/>
              </a:rPr>
              <a:t>glVertex2f(1.0,</a:t>
            </a:r>
            <a:r>
              <a:rPr sz="1400" spc="-120" dirty="0">
                <a:latin typeface="Times New Roman"/>
                <a:cs typeface="Times New Roman"/>
              </a:rPr>
              <a:t> </a:t>
            </a:r>
            <a:r>
              <a:rPr sz="1400" spc="-15" dirty="0">
                <a:latin typeface="Times New Roman"/>
                <a:cs typeface="Times New Roman"/>
              </a:rPr>
              <a:t>1.0);</a:t>
            </a:r>
            <a:endParaRPr sz="1400" dirty="0">
              <a:latin typeface="Times New Roman"/>
              <a:cs typeface="Times New Roman"/>
            </a:endParaRPr>
          </a:p>
          <a:p>
            <a:pPr marL="1841500">
              <a:lnSpc>
                <a:spcPct val="100000"/>
              </a:lnSpc>
              <a:spcBef>
                <a:spcPts val="10"/>
              </a:spcBef>
            </a:pPr>
            <a:r>
              <a:rPr sz="1400" spc="-5" dirty="0">
                <a:latin typeface="Times New Roman"/>
                <a:cs typeface="Times New Roman"/>
              </a:rPr>
              <a:t>glVertex2f(1.0,</a:t>
            </a:r>
            <a:r>
              <a:rPr sz="1400" spc="-120" dirty="0">
                <a:latin typeface="Times New Roman"/>
                <a:cs typeface="Times New Roman"/>
              </a:rPr>
              <a:t> </a:t>
            </a:r>
            <a:r>
              <a:rPr sz="1400" spc="-15" dirty="0">
                <a:latin typeface="Times New Roman"/>
                <a:cs typeface="Times New Roman"/>
              </a:rPr>
              <a:t>0.0);</a:t>
            </a:r>
            <a:endParaRPr sz="1400" dirty="0">
              <a:latin typeface="Times New Roman"/>
              <a:cs typeface="Times New Roman"/>
            </a:endParaRPr>
          </a:p>
          <a:p>
            <a:pPr marL="285115" marR="2425700" indent="641350">
              <a:lnSpc>
                <a:spcPct val="100000"/>
              </a:lnSpc>
              <a:spcBef>
                <a:spcPts val="10"/>
              </a:spcBef>
            </a:pPr>
            <a:r>
              <a:rPr sz="1400" spc="-25" dirty="0">
                <a:latin typeface="Times New Roman"/>
                <a:cs typeface="Times New Roman"/>
              </a:rPr>
              <a:t>g</a:t>
            </a:r>
            <a:r>
              <a:rPr sz="1400" spc="-20" dirty="0">
                <a:latin typeface="Times New Roman"/>
                <a:cs typeface="Times New Roman"/>
              </a:rPr>
              <a:t>l</a:t>
            </a:r>
            <a:r>
              <a:rPr sz="1400" spc="80" dirty="0">
                <a:latin typeface="Times New Roman"/>
                <a:cs typeface="Times New Roman"/>
              </a:rPr>
              <a:t>E</a:t>
            </a:r>
            <a:r>
              <a:rPr sz="1400" spc="110" dirty="0">
                <a:latin typeface="Times New Roman"/>
                <a:cs typeface="Times New Roman"/>
              </a:rPr>
              <a:t>n</a:t>
            </a:r>
            <a:r>
              <a:rPr sz="1400" spc="75" dirty="0">
                <a:latin typeface="Times New Roman"/>
                <a:cs typeface="Times New Roman"/>
              </a:rPr>
              <a:t>d</a:t>
            </a:r>
            <a:r>
              <a:rPr sz="1400" spc="-130" dirty="0">
                <a:latin typeface="Times New Roman"/>
                <a:cs typeface="Times New Roman"/>
              </a:rPr>
              <a:t>()</a:t>
            </a:r>
            <a:r>
              <a:rPr sz="1400" dirty="0">
                <a:latin typeface="Times New Roman"/>
                <a:cs typeface="Times New Roman"/>
              </a:rPr>
              <a:t>;  </a:t>
            </a:r>
            <a:r>
              <a:rPr sz="1400" spc="-5" dirty="0">
                <a:latin typeface="Times New Roman"/>
                <a:cs typeface="Times New Roman"/>
              </a:rPr>
              <a:t>glEndList();</a:t>
            </a:r>
            <a:endParaRPr sz="14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z="1400" spc="-210" dirty="0">
                <a:latin typeface="Times New Roman"/>
                <a:cs typeface="Times New Roman"/>
              </a:rPr>
              <a:t>}</a:t>
            </a:r>
            <a:endParaRPr sz="14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450" dirty="0">
              <a:latin typeface="Times New Roman"/>
              <a:cs typeface="Times New Roman"/>
            </a:endParaRPr>
          </a:p>
          <a:p>
            <a:pPr marL="12700" marR="2037080">
              <a:lnSpc>
                <a:spcPct val="100000"/>
              </a:lnSpc>
            </a:pPr>
            <a:r>
              <a:rPr sz="1400" dirty="0">
                <a:latin typeface="Times New Roman"/>
                <a:cs typeface="Times New Roman"/>
              </a:rPr>
              <a:t>//Sample </a:t>
            </a:r>
            <a:r>
              <a:rPr sz="1400" spc="-5" dirty="0">
                <a:latin typeface="Times New Roman"/>
                <a:cs typeface="Times New Roman"/>
              </a:rPr>
              <a:t>drawing</a:t>
            </a:r>
            <a:r>
              <a:rPr sz="1400" spc="-165" dirty="0">
                <a:latin typeface="Times New Roman"/>
                <a:cs typeface="Times New Roman"/>
              </a:rPr>
              <a:t> </a:t>
            </a:r>
            <a:r>
              <a:rPr sz="1400" spc="5" dirty="0">
                <a:latin typeface="Times New Roman"/>
                <a:cs typeface="Times New Roman"/>
              </a:rPr>
              <a:t>function  </a:t>
            </a:r>
            <a:r>
              <a:rPr sz="1400" spc="20" dirty="0">
                <a:latin typeface="Times New Roman"/>
                <a:cs typeface="Times New Roman"/>
              </a:rPr>
              <a:t>void</a:t>
            </a:r>
            <a:r>
              <a:rPr sz="1400" spc="-10" dirty="0">
                <a:latin typeface="Times New Roman"/>
                <a:cs typeface="Times New Roman"/>
              </a:rPr>
              <a:t> display_callback(){</a:t>
            </a:r>
            <a:endParaRPr sz="1400" dirty="0">
              <a:latin typeface="Times New Roman"/>
              <a:cs typeface="Times New Roman"/>
            </a:endParaRPr>
          </a:p>
          <a:p>
            <a:pPr marL="285115">
              <a:lnSpc>
                <a:spcPct val="100000"/>
              </a:lnSpc>
              <a:spcBef>
                <a:spcPts val="10"/>
              </a:spcBef>
            </a:pPr>
            <a:r>
              <a:rPr sz="1400" dirty="0">
                <a:latin typeface="Times New Roman"/>
                <a:cs typeface="Times New Roman"/>
              </a:rPr>
              <a:t>…</a:t>
            </a:r>
          </a:p>
          <a:p>
            <a:pPr marL="285115" marR="1224280">
              <a:lnSpc>
                <a:spcPct val="100600"/>
              </a:lnSpc>
            </a:pPr>
            <a:r>
              <a:rPr sz="1400" spc="-15" dirty="0">
                <a:latin typeface="Times New Roman"/>
                <a:cs typeface="Times New Roman"/>
              </a:rPr>
              <a:t>//Draw </a:t>
            </a:r>
            <a:r>
              <a:rPr sz="1400" spc="-5" dirty="0">
                <a:latin typeface="Times New Roman"/>
                <a:cs typeface="Times New Roman"/>
              </a:rPr>
              <a:t>objects </a:t>
            </a:r>
            <a:r>
              <a:rPr sz="1400" spc="40" dirty="0">
                <a:latin typeface="Times New Roman"/>
                <a:cs typeface="Times New Roman"/>
              </a:rPr>
              <a:t>here</a:t>
            </a:r>
            <a:endParaRPr lang="en-US" sz="1400" spc="40" dirty="0">
              <a:latin typeface="Times New Roman"/>
              <a:cs typeface="Times New Roman"/>
            </a:endParaRPr>
          </a:p>
          <a:p>
            <a:pPr marL="285115" marR="1224280">
              <a:lnSpc>
                <a:spcPct val="100600"/>
              </a:lnSpc>
            </a:pPr>
            <a:r>
              <a:rPr lang="en-US" dirty="0" err="1"/>
              <a:t>glutDisplayFunc</a:t>
            </a:r>
            <a:r>
              <a:rPr lang="en-US" dirty="0"/>
              <a:t>(display);</a:t>
            </a:r>
          </a:p>
          <a:p>
            <a:pPr marL="285115" marR="1224280">
              <a:lnSpc>
                <a:spcPct val="100600"/>
              </a:lnSpc>
            </a:pPr>
            <a:endParaRPr sz="1400" dirty="0">
              <a:latin typeface="Times New Roman"/>
              <a:cs typeface="Times New Roman"/>
            </a:endParaRPr>
          </a:p>
          <a:p>
            <a:pPr marL="285115">
              <a:lnSpc>
                <a:spcPct val="100000"/>
              </a:lnSpc>
              <a:spcBef>
                <a:spcPts val="10"/>
              </a:spcBef>
            </a:pPr>
            <a:r>
              <a:rPr sz="1400" dirty="0">
                <a:latin typeface="Times New Roman"/>
                <a:cs typeface="Times New Roman"/>
              </a:rPr>
              <a:t>…</a:t>
            </a:r>
          </a:p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sz="1400" spc="-210" dirty="0">
                <a:latin typeface="Times New Roman"/>
                <a:cs typeface="Times New Roman"/>
              </a:rPr>
              <a:t>}</a:t>
            </a:r>
            <a:endParaRPr sz="14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TM03457444[[fn=Basis]]</Template>
  <TotalTime>22</TotalTime>
  <Words>1173</Words>
  <Application>Microsoft Office PowerPoint</Application>
  <PresentationFormat>On-screen Show (4:3)</PresentationFormat>
  <Paragraphs>140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Times New Roman</vt:lpstr>
      <vt:lpstr>Office Theme</vt:lpstr>
      <vt:lpstr>PowerPoint Presentation</vt:lpstr>
      <vt:lpstr>Table of Contents</vt:lpstr>
      <vt:lpstr>What is Open GL?</vt:lpstr>
      <vt:lpstr>Some Basic Syntax</vt:lpstr>
      <vt:lpstr>Code Example</vt:lpstr>
      <vt:lpstr>Code Example</vt:lpstr>
      <vt:lpstr>A Bit on Buff ers</vt:lpstr>
      <vt:lpstr>Drawing 101</vt:lpstr>
      <vt:lpstr>Geometric Primitives</vt:lpstr>
      <vt:lpstr>Code Example</vt:lpstr>
      <vt:lpstr>Types of Primitives</vt:lpstr>
      <vt:lpstr>Types of Primitives</vt:lpstr>
      <vt:lpstr>Types of Primitives</vt:lpstr>
      <vt:lpstr>Display Lists</vt:lpstr>
      <vt:lpstr>Code Example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Open GL Basics</dc:title>
  <dc:creator>Kristin</dc:creator>
  <cp:lastModifiedBy>Husne Mubarak</cp:lastModifiedBy>
  <cp:revision>11</cp:revision>
  <dcterms:created xsi:type="dcterms:W3CDTF">2019-09-29T08:06:20Z</dcterms:created>
  <dcterms:modified xsi:type="dcterms:W3CDTF">2026-05-18T15:20:40Z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2009-01-15T00:00:00Z</vt:filetime>
  </property>
  <property fmtid="{D5CDD505-2E9C-101B-9397-08002B2CF9AE}" pid="3" name="Creator">
    <vt:lpwstr>Impress</vt:lpwstr>
  </property>
  <property fmtid="{D5CDD505-2E9C-101B-9397-08002B2CF9AE}" pid="4" name="LastSaved">
    <vt:filetime>2019-09-29T00:00:00Z</vt:filetime>
  </property>
</Properties>
</file>